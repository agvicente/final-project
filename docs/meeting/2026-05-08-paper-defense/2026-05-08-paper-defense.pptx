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Phase Transition Characterization in MicroTEDAclus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D6E4F0"/>
                </a:solidFill>
                <a:latin typeface="Calibri"/>
              </a:defRPr>
            </a:pPr>
            <a:r>
              <a:t>Defesa do paper SoftCom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Augusto Custódio Vicente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6E4F0"/>
                </a:solidFill>
                <a:latin typeface="Calibri"/>
              </a:defRPr>
            </a:pPr>
            <a:r>
              <a:t>Orientador: Frederico Gadelha Guimarães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6E4F0"/>
                </a:solidFill>
                <a:latin typeface="Calibri"/>
              </a:defRPr>
            </a:pPr>
            <a:r>
              <a:t>PPGEE — UFMG · 2026-05-08 · Submission deadline 2026-05-11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1. Pivô do Framing desde 17/04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04040"/>
                </a:solidFill>
                <a:latin typeface="Calibri"/>
              </a:defRPr>
            </a:pPr>
            <a:r>
              <a:t>Reunião anterior: framing operacional. Hoje: framing estrutural.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• Framing 17/04: "5 adaptações para corrigir MicroTEDAclus em IoT IDS". Defensável mas modesto.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• Análise da Campaign-05 (22-28/04): 3 regimes patológicos com topologias estruturalmente distintas.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• Investigação 28/04 → 04/05: identificado o mecanismo causal — comparação σ² vs r₀ no denominador da eccentricidade.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• Experimento controlado (Exp 3, 04/05, 1.620 runs): predição estrutural λ* ∝ √r₀ confirmada com check_ratio = 1,00 EXATO.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• Pivô: "Phase transition characterization" como contribuição teórica central.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E75B6"/>
                </a:solidFill>
                <a:latin typeface="Calibri"/>
              </a:defRPr>
            </a:pPr>
            <a:r>
              <a:t>→ Pergunta central desta reunião: o framing regime change é defensável vs orientador e reviewers SoftCom?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2. O Mecanismo Estrutural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04040"/>
                </a:solidFill>
                <a:latin typeface="Calibri"/>
              </a:defRPr>
            </a:pPr>
            <a:r>
              <a:t>Em corrected.py:233 — uma linha define dois regimes operacionais.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B8860B"/>
                </a:solidFill>
                <a:latin typeface="Consolas"/>
              </a:defRPr>
            </a:pPr>
            <a:r>
              <a:t>effective_var = max(var, self.r0)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Função max(·) é não-suave → trava em um dos dois argumentos. Define DOIS regimes: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    r0-bounded (σ² ≪ r₀): denominador = r₀ constante. Limiar de aceitação NÃO-ADAPTATIVO.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    data-bounded (σ² ≫ r₀): denominador = σ². Limiar ADAPTATIVO à dispersão local.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Não é gradiente; é phase transition operacional. Fronteira nítida em σ² = r₀.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4 code paths em corrected.py (linhas 233, 280, 292, 296) executam essa comparação.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V0 (literal Maia) tem comparação análoga em _is_outlier:200 (var &gt; r₀) — mesmo regime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AE60"/>
                </a:solidFill>
                <a:latin typeface="Calibri"/>
              </a:defRPr>
            </a:pPr>
            <a:r>
              <a:t>→ Regime change é estrutural ao MicroTEDAclus, não peculiaridade da nossa correção.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3. Predição Algébrica Falsificável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404040"/>
                </a:solidFill>
                <a:latin typeface="Calibri"/>
              </a:defRPr>
            </a:pPr>
            <a:r>
              <a:t>Para Gaussiana 𝒩(0, λ²I_d), Welford → trace covariance → previsão de λ*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04040"/>
                </a:solidFill>
                <a:latin typeface="Calibri"/>
              </a:defRPr>
            </a:pPr>
            <a:r>
              <a:t>σ² → d · λ²    (variance Welford = trace cov, confirmado em test_welford_variance.py)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B3A5C"/>
                </a:solidFill>
                <a:latin typeface="Cambria Math"/>
              </a:defRPr>
            </a:pPr>
            <a:r>
              <a:t>λ* = √(r₀ / 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Predições para d = 17 (CICIoT2023 v1):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0000"/>
                </a:solidFill>
                <a:latin typeface="Consolas"/>
              </a:defRPr>
            </a:pPr>
            <a:r>
              <a:t>  r₀ = 10⁻³  →  λ* = 0,0077</a:t>
            </a:r>
            <a:br/>
            <a:r>
              <a:t>  r₀ = 10⁻¹  →  λ* = 0,0767</a:t>
            </a:r>
            <a:br/>
            <a:r>
              <a:t>  r₀ = 10⁰   →  λ* = 0,243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39C12"/>
                </a:solidFill>
                <a:latin typeface="Calibri"/>
              </a:defRPr>
            </a:pPr>
            <a:r>
              <a:t>→ Falsificável: se a estrutura √r₀ não emerge empiricamente, hipótese está errada.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4. A Ponte Teoria→Prática: o Fator (2/d)²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04040"/>
                </a:solidFill>
                <a:latin typeface="Calibri"/>
              </a:defRPr>
            </a:pPr>
            <a:r>
              <a:t>A predição λ* = √(r₀/d) vale para σ² 'real'. Que σ² cada implementação acumula?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7AE60"/>
                </a:solidFill>
                <a:latin typeface="Consolas"/>
              </a:defRPr>
            </a:pPr>
            <a:r>
              <a:t>V7 (Welford raw):  σ² → d · λ²  (correto)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74C3C"/>
                </a:solidFill>
                <a:latin typeface="Consolas"/>
              </a:defRPr>
            </a:pPr>
            <a:r>
              <a:t>V0 (Maia literal): σ² = (‖δ‖·2/d)² / (n-1) ≈ (4/d)·λ²  ← fator (2/d)² encolhe σ² em ~d²/4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320040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(2/d)²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Encolhimento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Resultado V0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2 (Maia validou)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nenhum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OK — funciona como V7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17 (IoT real)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0,014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72×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σ² próx. de r₀ → fragmenta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0,0016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625×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σ² ≪ r₀ → r0-bounded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→ (2/d)² NÃO é o "bug central". É o mecanismo específico que joga V0 na fronteira de regime em alta-d.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04040"/>
                </a:solidFill>
                <a:latin typeface="Calibri"/>
              </a:defRPr>
            </a:pPr>
            <a:r>
              <a:t>Em d≤6 V0 funciona em data-bounded; em d≥10 V0 atravessa para r0-bounded paranoia.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5. Hipóteses Pré-Registradas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04040"/>
                </a:solidFill>
                <a:latin typeface="Calibri"/>
              </a:defRPr>
            </a:pPr>
            <a:r>
              <a:t>Registradas no plano em 04/05 ANTES do experimento rodar.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3A5C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Estrutura V7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04040"/>
                </a:solidFill>
                <a:latin typeface="Calibri"/>
              </a:defRPr>
            </a:pPr>
            <a:r>
              <a:t>V7 transiciona em λ* = √(r₀/d), tolerância 2× (testa coeficiente).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3A5C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V0 difere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017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04040"/>
                </a:solidFill>
                <a:latin typeface="Calibri"/>
              </a:defRPr>
            </a:pPr>
            <a:r>
              <a:t>V0 (sem max guard) difere qualitativamente: Cohen's d &gt; 0,8 vs V7.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3A5C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Escala universal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319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04040"/>
                </a:solidFill>
                <a:latin typeface="Calibri"/>
              </a:defRPr>
            </a:pPr>
            <a:r>
              <a:t>Razão λ*(r₀_a)/λ*(r₀_b) preserva √(r₀_a/r₀_b) (testa estrutura).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04040"/>
                </a:solidFill>
                <a:latin typeface="Calibri"/>
              </a:defRPr>
            </a:pPr>
            <a:r>
              <a:t>Critério de robustez (todos simultâneos): Friedman p&lt;0,001, λ* dentro de 2×, razão preservada, Cohen's d &gt; 0,8.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AE60"/>
                </a:solidFill>
                <a:latin typeface="Calibri"/>
              </a:defRPr>
            </a:pPr>
            <a:r>
              <a:t>→ Caso B do plano: estrutura confirma com folga, coeficiente refina (explicação em §VI Discussion).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6. Setup Experimental (Exp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1.620 runs: λ × r₀ × algoritmo × seed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    9 valores λ log-espaçados em [10⁻³, 10¹] — cobre 4 ordens de grandeza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    3 valores r₀ ∈ {10⁻³, 10⁻¹, 10⁰} — cobre 3 ordens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    2 algoritmos: V0 (literal Maia) e V7 (corrigido com 5 adaptações)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    30 seeds por condição (padrão do projeto: Exp 1 e Exp 2)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Dimensão d = 17 (matches IoT v1 features), 1.000 amostras/run, anomalias 5σ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Estatística: Friedman + Nemenyi, ANOVA + Tukey HSD em paralelo, bootstrap CI 95%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Tempo de execução: ~30 min em Mac M2</a:t>
            </a:r>
          </a:p>
          <a:p>
            <a:pPr>
              <a:spcBef>
                <a:spcPts val="400"/>
              </a:spcBef>
              <a:defRPr sz="1600">
                <a:solidFill>
                  <a:srgbClr val="000000"/>
                </a:solidFill>
                <a:latin typeface="Calibri"/>
              </a:defRPr>
            </a:pPr>
            <a:r>
              <a:t>• Código: experiments/teda-high-dim/experiments/exp03_regime_transition.py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7. Resultado Principal — H3 confirmada exatamente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04040"/>
                </a:solidFill>
                <a:latin typeface="Calibri"/>
              </a:defRPr>
            </a:pPr>
            <a:r>
              <a:t>Razões empíricas batem √(r₀_a/r₀_b) com check_ratio = 1,00 EXATO em 3/3.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Razões λ* observadas vs. preditas (V7):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377440"/>
          <a:ext cx="9144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Comparação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Observado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Predito √(r₀_a/r₀_b)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Check ratio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λ*(0,1) / λ*(10⁻³)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1,00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λ*(1) / λ*(10⁻³)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31,623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31,623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1,00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λ*(1) / λ*(0,1)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1,00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Coeficiente: V7 empírico = 0,092·√r₀ vs predito 0,243·√r₀. Fator 0,38 CONSTANTE em 3 ordens de r₀.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Friedman χ² ≥ 160, p ≤ 10⁻³⁰ em todas as condições — separação estatística massiva.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Offset 0,38 explicado: regime indicator usa σ² por cluster; quando V7 fragmenta, σ² &lt; trace covariance total.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Anomalias 5σ inflam σ² pré-fragmentação. Refinamento quantitativo do prefactor; estrutura √r₀ é EXATA.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8. V0 vs V7 — Diferença Qualitativa Massiva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404040"/>
                </a:solidFill>
                <a:latin typeface="Calibri"/>
              </a:defRPr>
            </a:pPr>
            <a:r>
              <a:t>Cohen's d até 1.376 — três ordens de grandeza acima do threshold de "large effect".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r₀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FPR 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FPR V7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Cohen's 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10⁻³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+1.247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10⁻³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+1.376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10⁻¹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+1.247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+1.247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Threshold Cohen 1988 "large effect": |d| &gt; 0,8. Observamos magnitudes 1.000× maior.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V0 colapsa em 1.000 clusters (cap) em λ ≥ 1; V7 estável em ~6 clusters em todo λ.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Visual em fig_regime_v0_vs_v7.pdf: trade-off em FPR, # clusters, top-1 fraction.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AE60"/>
                </a:solidFill>
                <a:latin typeface="Calibri"/>
              </a:defRPr>
            </a:pPr>
            <a:r>
              <a:t>→ Mensagem: as 5 adaptações não "calibram" o detector. Mudam-no estruturalmente.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9. Reinterpretação de Maia 2020 — Escopo Retrospectivo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04040"/>
                </a:solidFill>
                <a:latin typeface="Calibri"/>
              </a:defRPr>
            </a:pPr>
            <a:r>
              <a:t>Não refutamos Maia. Delimitamos escopo de aplicabilidade.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Maia 2020 reporta "r₀ = 0,001 robusto para todos os datasets".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Datasets do paper: d ∈ {2, 3}, features escala λ ~ 1 (ST-D1, ST-D2, Cassini, RBF).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Substituindo na nossa fórmula: λ* = √(0,001/2) ≈ 0,022 ≪ 1. → Maia opera firmemente em data-bounded.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A "robustez de r₀" de Maia é estabilidade DENTRO de um regime — não generalização ENTRE regimes.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Em IoT com features raw e d = 17: a calibração default cai na fronteira → "robustez" colapsa.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  <a:latin typeface="Calibri"/>
              </a:defRPr>
            </a:pPr>
            <a:r>
              <a:t>• Politicamente: Frederico é co-autor; framing aqui é EXTENSÃO crítica de aplicabilidade, não refutação.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39C12"/>
                </a:solidFill>
                <a:latin typeface="Calibri"/>
              </a:defRPr>
            </a:pPr>
            <a:r>
              <a:t>→ Decisão: enviar email para Maia (via Frederico) com framing acima ANTES da submissão.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B3A5C"/>
                </a:solidFill>
                <a:latin typeface="Calibri"/>
              </a:defRPr>
            </a:pPr>
            <a:r>
              <a:t>10. IoT Manifestation + Tabela VIII Honesta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04040"/>
                </a:solidFill>
                <a:latin typeface="Calibri"/>
              </a:defRPr>
            </a:pPr>
            <a:r>
              <a:t>C04 per-flow: V0 FPR = 54,4% → V7 FPR = 3,9% (14× improvement). C05 baselines abaixo: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Algoritmo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FPR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F1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Tput (fl/s)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Cal. gap (pp)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HST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47,0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50,4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134,6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7,8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V7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Incremental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124,9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40,6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Incremental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48,7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44,8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0,6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LOF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38,5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HST domina F1. Não escondemos. Calibration gap V7 = 40,6 pp expõe silent collapse.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Reframe: V7 é caracterização teórica, não competidor SOTA. HST é referência streaming, não competidor.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  <a:latin typeface="Calibri"/>
              </a:defRPr>
            </a:pPr>
            <a:r>
              <a:t>• Campaign-06 em preparação (NÃO rodada): testa se features normalizadas colapsam V0/V7 em IoT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09090"/>
                </a:solidFill>
                <a:latin typeface="Calibri"/>
              </a:defRPr>
            </a:pPr>
            <a:r>
              <a:t>Slide 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11. Conclusão e Pedido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6E4F0"/>
                </a:solidFill>
                <a:latin typeface="Calibri"/>
              </a:defRPr>
            </a:pPr>
            <a:r>
              <a:t>Paper pronto: 587 linhas, 22 referências (4 novas), 6 figuras (3 novas), 0 placeholders.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Pendências antes da submissão (10/05):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• Build LaTeX limpo no Overleaf (hoje/amanhã)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• Verificação final dos números da Tabela VIII contra metrics_summary.csv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• Email para Maia, via Frederico (framing escopo retrospectivo)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• Sua revisão deste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Perguntas diretas: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D6E4F0"/>
                </a:solidFill>
                <a:latin typeface="Calibri"/>
              </a:defRPr>
            </a:pPr>
            <a:r>
              <a:t>• O framing regime change é defensável vs orientador e reviewers SoftCom?</a:t>
            </a:r>
          </a:p>
          <a:p>
            <a:pPr>
              <a:spcBef>
                <a:spcPts val="400"/>
              </a:spcBef>
              <a:defRPr sz="1600">
                <a:solidFill>
                  <a:srgbClr val="D6E4F0"/>
                </a:solidFill>
                <a:latin typeface="Calibri"/>
              </a:defRPr>
            </a:pPr>
            <a:r>
              <a:t>• Tabela VIII honesta com HST F1 &gt; V7 está OK?</a:t>
            </a:r>
          </a:p>
          <a:p>
            <a:pPr>
              <a:spcBef>
                <a:spcPts val="400"/>
              </a:spcBef>
              <a:defRPr sz="1600">
                <a:solidFill>
                  <a:srgbClr val="D6E4F0"/>
                </a:solidFill>
                <a:latin typeface="Calibri"/>
              </a:defRPr>
            </a:pPr>
            <a:r>
              <a:t>• OK email para Maia? Posso redigir, você revisa.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6E4F0"/>
                </a:solidFill>
                <a:latin typeface="Calibri"/>
              </a:defRPr>
            </a:pPr>
            <a:r>
              <a:t>Slide 11 / 11 · Submissão: 10/05 · Hard deadline: 11/05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