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MicroTEDAclus em Alta Dimensao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D6E4F0"/>
                </a:solidFill>
                <a:latin typeface="Calibri"/>
              </a:defRPr>
            </a:pPr>
            <a:r>
              <a:t>Progresso e Proximos Passos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675120" cy="14630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393192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Fase 2: 167 experimentos | 4 campanhas | defesa ~agosto 2026</a:t>
            </a:r>
          </a:p>
          <a:p>
            <a:pPr algn="ctr">
              <a:spcBef>
                <a:spcPts val="1000"/>
              </a:spcBef>
              <a:defRPr sz="1600" b="0" i="0">
                <a:solidFill>
                  <a:srgbClr val="BBDEFB"/>
                </a:solidFill>
                <a:latin typeface="Calibri"/>
              </a:defRPr>
            </a:pPr>
            <a:r>
              <a:t>Foco: contribuicao tecnica + decisao dos proximos experimentos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D6E4F0"/>
                </a:solidFill>
                <a:latin typeface="Calibri"/>
              </a:defRPr>
            </a:pPr>
            <a:r>
              <a:t>Augusto | Mestrado PPGEE - UFMG | Orientacao 17/abr/2026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TEDA — Tipicality and Eccentricity Data Analytics (Angelov 2014)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7607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Eccentricidade — quão diferente é o ponto x: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B3A5C"/>
                </a:solidFill>
                <a:latin typeface="Cambria Math"/>
              </a:defRPr>
            </a:pPr>
            <a:r>
              <a:t>ξ(x) = 1/k + ‖x − μ‖² / (k · σ²)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404040"/>
                </a:solidFill>
                <a:latin typeface="Calibri"/>
              </a:defRPr>
            </a:pPr>
            <a:r>
              <a:t>ξ ≈ 1/k → típico (perto da média)  |  ξ ≫ 1/k → outlier (longe)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017520"/>
            <a:ext cx="57607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5E20"/>
                </a:solidFill>
                <a:latin typeface="Calibri"/>
              </a:defRPr>
            </a:pPr>
            <a:r>
              <a:t>Tipicalidade — complemento (quão típico):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B5E20"/>
                </a:solidFill>
                <a:latin typeface="Cambria Math"/>
              </a:defRPr>
            </a:pPr>
            <a:r>
              <a:t>τ(x) = 1 − ξ(x)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404040"/>
                </a:solidFill>
                <a:latin typeface="Calibri"/>
              </a:defRPr>
            </a:pPr>
            <a:r>
              <a:t>τ ≈ 1 → muito típico  |  τ ≤ 0 → outlier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76072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Pseudocódigo TEDA (centro único):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04040"/>
                </a:solidFill>
                <a:latin typeface="Consolas"/>
              </a:defRPr>
            </a:pPr>
            <a:r>
              <a:t>para cada ponto x:</a:t>
            </a:r>
            <a:br/>
            <a:r>
              <a:t>  μ ← μ + (x − μ) / k</a:t>
            </a:r>
            <a:br/>
            <a:r>
              <a:t>  σ² ← atualizar via Welford</a:t>
            </a:r>
            <a:br/>
            <a:r>
              <a:t>  ξ ← 1/k + ‖x−μ‖² / (k·σ²)</a:t>
            </a:r>
            <a:br/>
            <a:r>
              <a:t>  ζ ← ξ / 2    (normalizada)</a:t>
            </a:r>
            <a:br/>
            <a:r>
              <a:t>  se ζ &gt; (m²+1)/(2k):   → OUTLIER</a:t>
            </a:r>
            <a:br/>
            <a:r>
              <a:t>  senão:                → normal, atualizar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97680"/>
            <a:ext cx="38404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3708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2E75B6"/>
                </a:solidFill>
                <a:latin typeface="Calibri"/>
              </a:defRPr>
            </a:pPr>
            <a:r>
              <a:t>Não-paramétrico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4297680"/>
            <a:ext cx="38404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43708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27AE60"/>
                </a:solidFill>
                <a:latin typeface="Calibri"/>
              </a:defRPr>
            </a:pPr>
            <a:r>
              <a:t>O(1) por ponto (Welford)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9" y="4297680"/>
            <a:ext cx="38404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43708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39C12"/>
                </a:solidFill>
                <a:latin typeface="Calibri"/>
              </a:defRPr>
            </a:pPr>
            <a:r>
              <a:t>Chebyshev: P(|X−μ|≥mσ)≤1/m²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120640"/>
            <a:ext cx="11704320" cy="100584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74C3C"/>
                </a:solidFill>
                <a:latin typeface="Calibri"/>
              </a:defRPr>
            </a:pPr>
            <a:r>
              <a:t>Limitação: centro único → outliers contaminam μ e σ² → motiva MicroTEDAclus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MicroTEDAclus — Múltiplos Micro-Clusters (Maia et al. 2020)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B3A5C"/>
                </a:solidFill>
                <a:latin typeface="Calibri"/>
              </a:defRPr>
            </a:pPr>
            <a:r>
              <a:t>Cada micro-cluster mantém (μᵢ, σ²ᵢ, Sᵢ) isoladamente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04040"/>
                </a:solidFill>
                <a:latin typeface="Calibri"/>
              </a:defRPr>
            </a:pPr>
            <a:r>
              <a:t>Estatísticas independentes → outliers não contaminam outros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B3A5C"/>
                </a:solidFill>
                <a:latin typeface="Calibri"/>
              </a:defRPr>
            </a:pPr>
            <a:r>
              <a:t>K automático, concept drift nativo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04040"/>
                </a:solidFill>
                <a:latin typeface="Calibri"/>
              </a:defRPr>
            </a:pPr>
            <a:r>
              <a:t>Novos padrões criam novos clusters; K não é parâmetro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B3A5C"/>
                </a:solidFill>
                <a:latin typeface="Calibri"/>
              </a:defRPr>
            </a:pPr>
            <a:r>
              <a:t>m(k) dinâmico: protege clusters jovens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04040"/>
                </a:solidFill>
                <a:latin typeface="Calibri"/>
              </a:defRPr>
            </a:pPr>
            <a:r>
              <a:t>k=1: m≈0.6 (permissivo) | k→∞: m→3 (estrito, 89% Chebyshev)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B3A5C"/>
                </a:solidFill>
                <a:latin typeface="Calibri"/>
              </a:defRPr>
            </a:pPr>
            <a:r>
              <a:t>Único parâmetro: r₀ (piso de variância)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04040"/>
                </a:solidFill>
                <a:latin typeface="Calibri"/>
              </a:defRPr>
            </a:pPr>
            <a:r>
              <a:t>r₀=0.001 fixo em todos os 167 experimentos (robusto)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371600"/>
            <a:ext cx="5943600" cy="4114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3A5C"/>
                </a:solidFill>
                <a:latin typeface="Calibri"/>
              </a:defRPr>
            </a:pPr>
            <a:r>
              <a:t>Pseudocódigo MicroTEDAclus: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82880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04040"/>
                </a:solidFill>
                <a:latin typeface="Consolas"/>
              </a:defRPr>
            </a:pPr>
            <a:r>
              <a:t>para cada ponto x:</a:t>
            </a:r>
            <a:br/>
            <a:r>
              <a:t>  se primeiro ponto:</a:t>
            </a:r>
            <a:br/>
            <a:r>
              <a:t>    criar MC₁(μ=x, σ²=0, S=1)</a:t>
            </a:r>
            <a:br/>
            <a:br/>
            <a:r>
              <a:t>  para cada MCᵢ:</a:t>
            </a:r>
            <a:br/>
            <a:r>
              <a:t>    calcular ξᵢ(x) e ζᵢ(x)</a:t>
            </a:r>
            <a:br/>
            <a:r>
              <a:t>    mᵢ ← 3/(1+e^(-0.007(Sᵢ-100)))</a:t>
            </a:r>
            <a:br/>
            <a:r>
              <a:t>    thrᵢ ← (mᵢ²+1)/(2·Sᵢ)</a:t>
            </a:r>
            <a:br/>
            <a:r>
              <a:t>    aceitaᵢ ← (ζᵢ ≤ thrᵢ)</a:t>
            </a:r>
            <a:br/>
            <a:br/>
            <a:r>
              <a:t>  se algum aceita:</a:t>
            </a:r>
            <a:br/>
            <a:r>
              <a:t>    best ← MC com max τᵢ(x)</a:t>
            </a:r>
            <a:br/>
            <a:r>
              <a:t>    atualizar best: μ, σ², S</a:t>
            </a:r>
            <a:br/>
            <a:r>
              <a:t>    → NORMAL</a:t>
            </a:r>
            <a:br/>
            <a:br/>
            <a:r>
              <a:t>  senão (rejeitado por todos):</a:t>
            </a:r>
            <a:br/>
            <a:r>
              <a:t>    criar MCₙ₊₁(μ=x, σ²=0, S=1)</a:t>
            </a:r>
            <a:br/>
            <a:r>
              <a:t>    → ANOMALIA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669280"/>
            <a:ext cx="11704320" cy="82296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74C3C"/>
                </a:solidFill>
                <a:latin typeface="Calibri"/>
              </a:defRPr>
            </a:pPr>
            <a:r>
              <a:t>Validado em 2–6D. Nunca testado em alta dimensão (nosso caso: d=17–19).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O Bug Dimensional: Onde Funciona (Por Acidente) e Onde Colapsa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760720" cy="4114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B5E20"/>
                </a:solidFill>
                <a:latin typeface="Calibri"/>
              </a:defRPr>
            </a:pPr>
            <a:r>
              <a:t>✓ Onde funciona (auto-cancelamento)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B5E20"/>
                </a:solidFill>
                <a:latin typeface="Calibri"/>
              </a:defRPr>
            </a:pPr>
            <a:r>
              <a:t>Teste Chebyshev (n≥3):</a:t>
            </a:r>
          </a:p>
          <a:p>
            <a:pPr algn="l">
              <a:spcBef>
                <a:spcPts val="400"/>
              </a:spcBef>
              <a:defRPr sz="1400" b="0" i="0">
                <a:solidFill>
                  <a:srgbClr val="404040"/>
                </a:solidFill>
                <a:latin typeface="Calibri"/>
              </a:defRPr>
            </a:pPr>
            <a:r>
              <a:t>ξ = 1/n + (‖δ‖·2/d)² / (n · σ²)</a:t>
            </a:r>
          </a:p>
          <a:p>
            <a:pPr algn="l">
              <a:spcBef>
                <a:spcPts val="400"/>
              </a:spcBef>
              <a:defRPr sz="1400" b="0" i="0">
                <a:solidFill>
                  <a:srgbClr val="404040"/>
                </a:solidFill>
                <a:latin typeface="Calibri"/>
              </a:defRPr>
            </a:pPr>
            <a:r>
              <a:t>σ² também usa (2/d)²</a:t>
            </a:r>
          </a:p>
          <a:p>
            <a:pPr algn="l">
              <a:spcBef>
                <a:spcPts val="400"/>
              </a:spcBef>
              <a:defRPr sz="1400" b="0" i="0">
                <a:solidFill>
                  <a:srgbClr val="40404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 i="0">
                <a:solidFill>
                  <a:srgbClr val="1B5E20"/>
                </a:solidFill>
                <a:latin typeface="Calibri"/>
              </a:defRPr>
            </a:pPr>
            <a:r>
              <a:t>→ Numerador e denominador cancelam!</a:t>
            </a:r>
          </a:p>
          <a:p>
            <a:pPr algn="l">
              <a:spcBef>
                <a:spcPts val="400"/>
              </a:spcBef>
              <a:defRPr sz="1400" b="0" i="0">
                <a:solidFill>
                  <a:srgbClr val="404040"/>
                </a:solidFill>
                <a:latin typeface="Calibri"/>
              </a:defRPr>
            </a:pPr>
            <a:r>
              <a:t>O teste principal é self-consistent</a:t>
            </a:r>
          </a:p>
          <a:p>
            <a:pPr algn="l">
              <a:spcBef>
                <a:spcPts val="400"/>
              </a:spcBef>
              <a:defRPr sz="1400" b="0" i="0">
                <a:solidFill>
                  <a:srgbClr val="404040"/>
                </a:solidFill>
                <a:latin typeface="Calibri"/>
              </a:defRPr>
            </a:pPr>
            <a:r>
              <a:t>em QUALQUER dimensão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760720" cy="4114800"/>
          </a:xfrm>
          <a:prstGeom prst="roundRect">
            <a:avLst/>
          </a:prstGeom>
          <a:solidFill>
            <a:srgbClr val="FDEDED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74C3C"/>
                </a:solidFill>
                <a:latin typeface="Calibri"/>
              </a:defRPr>
            </a:pPr>
            <a:r>
              <a:t>✗ Onde colapsa (3 code paths)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74C3C"/>
                </a:solidFill>
                <a:latin typeface="Calibri"/>
              </a:defRPr>
            </a:pPr>
            <a:r>
              <a:t>① Intersecção macro-clusters:</a:t>
            </a:r>
          </a:p>
          <a:p>
            <a:pPr algn="l">
              <a:spcBef>
                <a:spcPts val="300"/>
              </a:spcBef>
              <a:defRPr sz="1300" b="0" i="0">
                <a:solidFill>
                  <a:srgbClr val="404040"/>
                </a:solidFill>
                <a:latin typeface="Calibri"/>
              </a:defRPr>
            </a:pPr>
            <a:r>
              <a:t>   dist(μᵢ,μⱼ) vs √σ² (escalada)</a:t>
            </a:r>
          </a:p>
          <a:p>
            <a:pPr algn="l">
              <a:spcBef>
                <a:spcPts val="300"/>
              </a:spcBef>
              <a:defRPr sz="1300" b="0" i="0">
                <a:solidFill>
                  <a:srgbClr val="404040"/>
                </a:solidFill>
                <a:latin typeface="Calibri"/>
              </a:defRPr>
            </a:pPr>
            <a:r>
              <a:t>   → nunca intersectam</a:t>
            </a:r>
          </a:p>
          <a:p>
            <a:pPr algn="l">
              <a:spcBef>
                <a:spcPts val="300"/>
              </a:spcBef>
              <a:defRPr sz="1300" b="0" i="0">
                <a:solidFill>
                  <a:srgbClr val="404040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defRPr sz="1300" b="1" i="0">
                <a:solidFill>
                  <a:srgbClr val="E74C3C"/>
                </a:solidFill>
                <a:latin typeface="Calibri"/>
              </a:defRPr>
            </a:pPr>
            <a:r>
              <a:t>② Guard n&lt;3:</a:t>
            </a:r>
          </a:p>
          <a:p>
            <a:pPr algn="l">
              <a:spcBef>
                <a:spcPts val="300"/>
              </a:spcBef>
              <a:defRPr sz="1300" b="0" i="0">
                <a:solidFill>
                  <a:srgbClr val="404040"/>
                </a:solidFill>
                <a:latin typeface="Calibri"/>
              </a:defRPr>
            </a:pPr>
            <a:r>
              <a:t>   σ²(escalada) vs r₀(fixo)</a:t>
            </a:r>
          </a:p>
          <a:p>
            <a:pPr algn="l">
              <a:spcBef>
                <a:spcPts val="300"/>
              </a:spcBef>
              <a:defRPr sz="1300" b="0" i="0">
                <a:solidFill>
                  <a:srgbClr val="404040"/>
                </a:solidFill>
                <a:latin typeface="Calibri"/>
              </a:defRPr>
            </a:pPr>
            <a:r>
              <a:t>   → rejeição prematura</a:t>
            </a:r>
          </a:p>
          <a:p>
            <a:pPr algn="l">
              <a:spcBef>
                <a:spcPts val="300"/>
              </a:spcBef>
              <a:defRPr sz="1300" b="0" i="0">
                <a:solidFill>
                  <a:srgbClr val="404040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defRPr sz="1300" b="1" i="0">
                <a:solidFill>
                  <a:srgbClr val="E74C3C"/>
                </a:solidFill>
                <a:latin typeface="Calibri"/>
              </a:defRPr>
            </a:pPr>
            <a:r>
              <a:t>③ Life decay:</a:t>
            </a:r>
          </a:p>
          <a:p>
            <a:pPr algn="l">
              <a:spcBef>
                <a:spcPts val="300"/>
              </a:spcBef>
              <a:defRPr sz="1300" b="0" i="0">
                <a:solidFill>
                  <a:srgbClr val="404040"/>
                </a:solidFill>
                <a:latin typeface="Calibri"/>
              </a:defRPr>
            </a:pPr>
            <a:r>
              <a:t>   √σ² e dist em escalas diferentes</a:t>
            </a:r>
          </a:p>
          <a:p>
            <a:pPr algn="l">
              <a:spcBef>
                <a:spcPts val="300"/>
              </a:spcBef>
              <a:defRPr sz="1300" b="0" i="0">
                <a:solidFill>
                  <a:srgbClr val="404040"/>
                </a:solidFill>
                <a:latin typeface="Calibri"/>
              </a:defRPr>
            </a:pPr>
            <a:r>
              <a:t>   → morte errática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577840"/>
          <a:ext cx="11704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846320"/>
              </a:tblGrid>
              <a:tr h="21945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Code Path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d=2  (2/d)^2=1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d=17  (2/d)^2=0.014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1200" b="1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Chebyshev (n&gt;=3)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OK (auto-cancela)</a:t>
                      </a:r>
                    </a:p>
                  </a:txBody>
                  <a:tcPr anchor="ctr"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1200" b="1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Intersecção 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FALHA: raio 12% do real</a:t>
                      </a:r>
                    </a:p>
                  </a:txBody>
                  <a:tcPr anchor="ctr"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1200" b="1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Guard n&lt;3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FALHA: σ² descalibrada vs r₀</a:t>
                      </a:r>
                    </a:p>
                  </a:txBody>
                  <a:tcPr anchor="ctr"/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1200" b="1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Life decay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FALHA: √σ² e dist em escalas ≠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5 Adaptacoes para Alta Dimensao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371600"/>
          <a:ext cx="11795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Adaptacao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→ Proposto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Suporte Teorico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Variância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(‖δ‖·2/d)² → Welford dot(δₘₑ, δₙₑₗ)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Corrige 70x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Welford 1962, Chan 1983</a:t>
                      </a: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Eccentricidade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(norm·2/d)² → ‖diff‖²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Consistente com σ²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Angelov 2014</a:t>
                      </a: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Todos os MC → Só melhor (max τ)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-20% clusters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Kohonen 1990, NS-TEDA 2024</a:t>
                      </a: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Guard n=1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Sem proteção → threshold=13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Seeds sobrevivem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Reynolds 2009</a:t>
                      </a: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1B3A5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Guard n=2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Só σ²&gt;r₀ → ζ&gt;thr AND σ²≥r₀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-20% splits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Reynolds 2009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E75B6"/>
                </a:solidFill>
                <a:latin typeface="Calibri"/>
              </a:defRPr>
            </a:pPr>
            <a:r>
              <a:t>Cada adaptacao e togglable independentemente (8 variantes V0-V7). Ablation study planejado.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Pipeline Streaming: Por Que Alta Dimensão Importa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3A5C"/>
                </a:solidFill>
                <a:latin typeface="Courier New"/>
              </a:defRPr>
            </a:pPr>
            <a:r>
              <a:t>PCAP (CICIoT2023)  →  Kafka  →  FlowConsumer  →  [17 features/flow]  →  MicroTEDAclus  →  Anomalia?</a:t>
            </a:r>
            <a:br/>
            <a:r>
              <a:t>                                                              │</a:t>
            </a:r>
            <a:br/>
            <a:r>
              <a:t>                                                    WindowAggregator  →  [12-19 feat/janela]  →  MicroTEDAclus  →  Anomalia?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404040"/>
                </a:solidFill>
                <a:latin typeface="Calibri"/>
              </a:defRPr>
            </a:pPr>
            <a:r>
              <a:t>17 features por flow → d=17 → onde o bug dimensional se manifesta</a:t>
            </a:r>
          </a:p>
          <a:p>
            <a:pPr algn="l">
              <a:spcBef>
                <a:spcPts val="1000"/>
              </a:spcBef>
              <a:defRPr sz="1500" b="0" i="0">
                <a:solidFill>
                  <a:srgbClr val="404040"/>
                </a:solidFill>
                <a:latin typeface="Calibri"/>
              </a:defRPr>
            </a:pPr>
            <a:r>
              <a:t>Prequential (test-then-train): sem data leakage, exige detector O(1)</a:t>
            </a:r>
          </a:p>
          <a:p>
            <a:pPr algn="l">
              <a:spcBef>
                <a:spcPts val="1000"/>
              </a:spcBef>
              <a:defRPr sz="1500" b="0" i="0">
                <a:solidFill>
                  <a:srgbClr val="404040"/>
                </a:solidFill>
                <a:latin typeface="Calibri"/>
              </a:defRPr>
            </a:pPr>
            <a:r>
              <a:t>Gap semântico (Sommer &amp; Paxson 2010): detector encontra outliers, não ataques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2E75B6"/>
                </a:solidFill>
                <a:latin typeface="Calibri"/>
              </a:defRPr>
            </a:pPr>
            <a:r>
              <a:t>Janelas temporais mudam a pergunta: 'este IP está se comportando de forma anômala?'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Evidencia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B3A5C"/>
                </a:solidFill>
                <a:latin typeface="Calibri"/>
              </a:defRPr>
            </a:pPr>
            <a:r>
              <a:t>C04: 30 runs — Proprio vs Original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6858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Proprio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Razao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 r0=0.10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3.9%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54.4%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14x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window v1 w=10s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41.9%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14x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window v1 w=30s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74.5%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15x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B3A5C"/>
                </a:solidFill>
                <a:latin typeface="Calibri"/>
              </a:defRPr>
            </a:pPr>
            <a:r>
              <a:t>Melhor por ataque (167 exps):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04040"/>
                </a:solidFill>
                <a:latin typeface="Calibri"/>
              </a:defRPr>
            </a:pPr>
            <a:r>
              <a:t>Recon F1=43.7%  |  ICMP Recall=50%  |  SYN Recall=54% (FPR=33%)  |  TCP = 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663440"/>
            <a:ext cx="11247120" cy="16459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B8860B"/>
                </a:solidFill>
                <a:latin typeface="Calibri"/>
              </a:defRPr>
            </a:pPr>
            <a:r>
              <a:t>Gap semantico nos dados:</a:t>
            </a:r>
          </a:p>
          <a:p>
            <a:pPr algn="l">
              <a:spcBef>
                <a:spcPts val="400"/>
              </a:spcBef>
              <a:defRPr sz="1200" b="0" i="0">
                <a:solidFill>
                  <a:srgbClr val="404040"/>
                </a:solidFill>
                <a:latin typeface="Calibri"/>
              </a:defRPr>
            </a:pPr>
            <a:r>
              <a:t>Per-flow: anomaly rate ~3.5% COM ou SEM ataque (C01)</a:t>
            </a:r>
          </a:p>
          <a:p>
            <a:pPr algn="l">
              <a:spcBef>
                <a:spcPts val="400"/>
              </a:spcBef>
              <a:defRPr sz="1200" b="0" i="0">
                <a:solidFill>
                  <a:srgbClr val="404040"/>
                </a:solidFill>
                <a:latin typeface="Calibri"/>
              </a:defRPr>
            </a:pPr>
            <a:r>
              <a:t>Janelas: SYN 3%→54%, Recon 4%→45% — mas FPR sobe (14% em w=10s v2)</a:t>
            </a:r>
          </a:p>
          <a:p>
            <a:pPr algn="l">
              <a:spcBef>
                <a:spcPts val="400"/>
              </a:spcBef>
              <a:defRPr sz="1200" b="0" i="0">
                <a:solidFill>
                  <a:srgbClr val="404040"/>
                </a:solidFill>
                <a:latin typeface="Calibri"/>
              </a:defRPr>
            </a:pPr>
            <a:r>
              <a:t>Gap: sem baseline nao-supervisionado direto no CICIoT2023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Proximos Experimentos — Priorizacao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Prioridade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Produz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1" i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[ALTA]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Sweep dimensional d∈{2,5,10,17,20,50}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2-3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Curva de colapso (fig. paper)</a:t>
                      </a: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1" i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[ALTA]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Ablation V0-V7 (8 variantes)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2-3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Contribuicao isolada de cada fix</a:t>
                      </a: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1" i="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[MEDIA]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S5 Two-Stage (per-flow → concentracao 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3-5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Ataca trade-off FPR/Recall</a:t>
                      </a: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1" i="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[MEDIA]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 IF/OC-SVM prequential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1-2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Comparacao direta</a:t>
                      </a:r>
                    </a:p>
                  </a:txBody>
                  <a:tcPr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1" i="0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[BAIXA]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KS-test + Spearman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2-3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 i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Valida dim. anomalas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1">
                <a:solidFill>
                  <a:srgbClr val="2E75B6"/>
                </a:solidFill>
                <a:latin typeface="Calibri"/>
              </a:defRPr>
            </a:pPr>
            <a:r>
              <a:t>Total ~2 semanas. Quais priorizar nas ~4 semanas restantes?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Decisoes Necessarias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9418320" cy="10058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4884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Calibri"/>
              </a:defRPr>
            </a:pPr>
            <a:r>
              <a:t>1. As 5 adaptacoes + prova do auto-cancelamento constituem contribuicao suficiente?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383280"/>
            <a:ext cx="9418320" cy="10058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52044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Calibri"/>
              </a:defRPr>
            </a:pPr>
            <a:r>
              <a:t>2. Prioridade: sweep+ablation (fortalece paper) vs S5 Two-Stage (melhora resultados)?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754880"/>
            <a:ext cx="9418320" cy="10058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89204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Calibri"/>
              </a:defRPr>
            </a:pPr>
            <a:r>
              <a:t>3. Escopo realista em ~4 semanas: paper focado no bug dimensional + dissertacao?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D6E4F0"/>
                </a:solidFill>
                <a:latin typeface="Calibri"/>
              </a:defRPr>
            </a:pPr>
            <a:r>
              <a:t>Obrigado. Abro para discussao.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