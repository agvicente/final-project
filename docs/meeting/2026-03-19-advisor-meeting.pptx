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Progresso Experimental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6E4F0"/>
                </a:solidFill>
                <a:latin typeface="Calibri"/>
              </a:defRPr>
            </a:pPr>
            <a:r>
              <a:t>Detecção de Intrusão em IoT com</a:t>
            </a:r>
            <a:br/>
            <a:r>
              <a:t>Clustering Evolutivo em Streaming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Augusto — Mestrado PPGEE/UFMG</a:t>
            </a:r>
          </a:p>
          <a:p>
            <a:pPr algn="ctr">
              <a:spcBef>
                <a:spcPts val="600"/>
              </a:spcBef>
              <a:defRPr sz="1800" b="0">
                <a:solidFill>
                  <a:srgbClr val="D6E4F0"/>
                </a:solidFill>
                <a:latin typeface="Calibri"/>
              </a:defRPr>
            </a:pPr>
            <a:r>
              <a:t>Reunião com Orientador — 19 de março de 2026</a:t>
            </a:r>
          </a:p>
          <a:p>
            <a:pPr algn="ctr">
              <a:spcBef>
                <a:spcPts val="600"/>
              </a:spcBef>
              <a:defRPr sz="1600" b="0">
                <a:solidFill>
                  <a:srgbClr val="D6E4F0"/>
                </a:solidFill>
                <a:latin typeface="Calibri"/>
              </a:defRPr>
            </a:pPr>
            <a:r>
              <a:t>167 experimentos | 4 campanhas | 5 steps de ablation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04040"/>
                </a:solidFill>
                <a:latin typeface="Calibri"/>
              </a:defRPr>
            </a:pPr>
            <a:r>
              <a:t>Pipeline Streaming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04040"/>
                </a:solidFill>
                <a:latin typeface="Calibri"/>
              </a:defRPr>
            </a:pPr>
            <a:r>
              <a:t>PCAP → Kafka → MicroTEDAclus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57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04040"/>
                </a:solidFill>
                <a:latin typeface="Calibri"/>
              </a:defRPr>
            </a:pPr>
            <a:r>
              <a:t>Metodologia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04040"/>
                </a:solidFill>
                <a:latin typeface="Calibri"/>
              </a:defRPr>
            </a:pPr>
            <a:r>
              <a:t>Ablation study com configuração cumulativa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04040"/>
                </a:solidFill>
                <a:latin typeface="Calibri"/>
              </a:defRPr>
            </a:pPr>
            <a:r>
              <a:t>Campaign-01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04040"/>
                </a:solidFill>
                <a:latin typeface="Calibri"/>
              </a:defRPr>
            </a:pPr>
            <a:r>
              <a:t>Baseline — anomaly rate invariante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04040"/>
                </a:solidFill>
                <a:latin typeface="Calibri"/>
              </a:defRPr>
            </a:pPr>
            <a:r>
              <a:t>Campaign-02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04040"/>
                </a:solidFill>
                <a:latin typeface="Calibri"/>
              </a:defRPr>
            </a:pPr>
            <a:r>
              <a:t>3 hipóteses: GT, features, janelas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04040"/>
                </a:solidFill>
                <a:latin typeface="Calibri"/>
              </a:defRPr>
            </a:pPr>
            <a:r>
              <a:t>Campaign-03 S4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04040"/>
                </a:solidFill>
                <a:latin typeface="Calibri"/>
              </a:defRPr>
            </a:pPr>
            <a:r>
              <a:t>Features comportamentais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04040"/>
                </a:solidFill>
                <a:latin typeface="Calibri"/>
              </a:defRPr>
            </a:pPr>
            <a:r>
              <a:t>Campaign-04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04040"/>
                </a:solidFill>
                <a:latin typeface="Calibri"/>
              </a:defRPr>
            </a:pPr>
            <a:r>
              <a:t>Original vs Próprio — validação da implementação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Calibri"/>
              </a:defRPr>
            </a:pPr>
            <a:r>
              <a:t>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04040"/>
                </a:solidFill>
                <a:latin typeface="Calibri"/>
              </a:defRPr>
            </a:pPr>
            <a:r>
              <a:t>Consolidado + Insights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04040"/>
                </a:solidFill>
                <a:latin typeface="Calibri"/>
              </a:defRPr>
            </a:pPr>
            <a:r>
              <a:t>Melhor resultado por ataque + 6 pontos-chave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Calibri"/>
              </a:defRPr>
            </a:pPr>
            <a:r>
              <a:t>8.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623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04040"/>
                </a:solidFill>
                <a:latin typeface="Calibri"/>
              </a:defRPr>
            </a:pPr>
            <a:r>
              <a:t>Próximos passos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04040"/>
                </a:solidFill>
                <a:latin typeface="Calibri"/>
              </a:defRPr>
            </a:pPr>
            <a:r>
              <a:t>3 opções para discussão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Pipeline Streaming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645920" cy="10972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PCAPs</a:t>
            </a:r>
            <a:br/>
            <a:r>
              <a:t>CICIoT2023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828800"/>
            <a:ext cx="1645920" cy="10972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Kafka</a:t>
            </a:r>
            <a:br/>
            <a:r>
              <a:t>Producer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828800"/>
            <a:ext cx="1645920" cy="10972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Kafka</a:t>
            </a:r>
            <a:br/>
            <a:r>
              <a:t>Broker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1645920" cy="10972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Flow</a:t>
            </a:r>
            <a:br/>
            <a:r>
              <a:t>Consumer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828800"/>
            <a:ext cx="1645920" cy="10972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MicroTEDA</a:t>
            </a:r>
            <a:br/>
            <a:r>
              <a:t>clus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0" y="1828800"/>
            <a:ext cx="1645920" cy="10972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Métricas</a:t>
            </a:r>
            <a:br/>
            <a:r>
              <a:t>Prequential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5 tipos de ataque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404040"/>
                </a:solidFill>
                <a:latin typeface="Calibri"/>
              </a:defRPr>
            </a:pPr>
            <a:r>
              <a:t>50k benign + 50k attack packets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6576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17 features per-flow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404040"/>
                </a:solidFill>
                <a:latin typeface="Calibri"/>
              </a:defRPr>
            </a:pPr>
            <a:r>
              <a:t>Timeout 60s, event-time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576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Clustering evolutivo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404040"/>
                </a:solidFill>
                <a:latin typeface="Calibri"/>
              </a:defRPr>
            </a:pPr>
            <a:r>
              <a:t>Tipicalidade (Maia 2020)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36576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Test-then-train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404040"/>
                </a:solidFill>
                <a:latin typeface="Calibri"/>
              </a:defRPr>
            </a:pPr>
            <a:r>
              <a:t>Ground truth por 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Metodologia — Ablation Study Cumulativo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27017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Variável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Opções Testadas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Resultado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Decisão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Algoritmo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TEDA vs MicroTEDAclus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MicroTEDAclus 26x melhor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MicroTEDAclus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C02-S1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Ground Truth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Phase vs 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ICMP: 4%→27%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IP GT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C02-S2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Features/flow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v1(17) vs v2(25) vs v3(32)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Zero impacto (±1pp)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v1 (Occam)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C02-S3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Granularidade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Per-flow vs Window (5-60s)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Recall 15-20x melhor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Window</a:t>
                      </a:r>
                    </a:p>
                  </a:txBody>
                  <a:tcPr anchor="ctr"/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C03-S4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Features/janela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v1(12) vs v2(19 comportam.)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Misto: 2/5 melhor, 2/5 pior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Em análise</a:t>
                      </a:r>
                    </a:p>
                  </a:txBody>
                  <a:tcPr anchor="ctr"/>
                </a:tc>
              </a:tr>
              <a:tr h="62701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Implementação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Própria vs Original (Maia)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Original FPR 42-75%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Própria superior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5B6"/>
                </a:solidFill>
                <a:latin typeface="Calibri"/>
              </a:defRPr>
            </a:pPr>
            <a:r>
              <a:t>Cada step congela a melhor decisão e passa para o próximo → configuração cumulativa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Campaign-01 — Baseline (17 runs)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Achado principal: Anomaly rate invariante (~3.5%) com ou sem ataque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7432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Cenário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FPR / Recall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Alvo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Benigno (FPR)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≤ 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Aprovado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Todos ataques (Recall)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~3-4%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≥ 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Reprovado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TEDA vs MicroTEDAclus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26x melhor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MicroTEDAclus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Diagnóstico: O detector identifica outliers naturais do tráfego, não ataques.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04040"/>
                </a:solidFill>
                <a:latin typeface="Calibri"/>
              </a:defRPr>
            </a:pPr>
            <a:r>
              <a:t>Flows de ataque DDoS são estatisticamente indistinguíveis de flows benignos IoT.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04040"/>
                </a:solidFill>
                <a:latin typeface="Calibri"/>
              </a:defRPr>
            </a:pPr>
            <a:r>
              <a:t>Problema é de representação (features), não de algoritmo.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Campaign-02 — 3 Hipóteses (72 runs)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10287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Variável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Resultado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Decisão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S1 — GT por 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phase → 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ICMP: 4%→27% Recall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Resto inalterado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FPR estável ~3-4%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Adotar IP GT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Corrige medição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mas não resolve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detecção</a:t>
                      </a:r>
                    </a:p>
                  </a:txBody>
                  <a:tcPr anchor="ctr"/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S2 —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v1(17)→v2(25)→v3(32)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Zero impacto (±1pp)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em todos os ataques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Manter v1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(Occam's razor)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Features per-flow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saturaram</a:t>
                      </a:r>
                    </a:p>
                  </a:txBody>
                  <a:tcPr anchor="ctr"/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S3 — Janelas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Per-flow → Window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(5s, 10s, 30s, 60s)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SYN: 3%→54% (15x)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Recon: 4%→45% (10x)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MAS FPR explode (58% @60s)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Direção certa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features insuficientes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Muda a pergunta</a:t>
                      </a:r>
                    </a:p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fundamental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5B6"/>
                </a:solidFill>
                <a:latin typeface="Calibri"/>
              </a:defRPr>
            </a:pPr>
            <a:r>
              <a:t>S3 muda a pergunta: "Este flow é anômalo?" → "Este IP tem comportamento anômalo?"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C02-S3 — Recall por Janela Temporal</a:t>
            </a:r>
          </a:p>
        </p:txBody>
      </p:sp>
      <p:pic>
        <p:nvPicPr>
          <p:cNvPr id="4" name="Picture 3" descr="04_s3_recall_by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68580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3716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Melhorias de Recall: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404040"/>
                </a:solidFill>
                <a:latin typeface="Calibri"/>
              </a:defRPr>
            </a:pPr>
            <a:r>
              <a:t>DDoS-SYN: 3.5% → 53.9% (@30s)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404040"/>
                </a:solidFill>
                <a:latin typeface="Calibri"/>
              </a:defRPr>
            </a:pPr>
            <a:r>
              <a:t>Recon: 4.5% → 45.3% (@10s)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404040"/>
                </a:solidFill>
                <a:latin typeface="Calibri"/>
              </a:defRPr>
            </a:pPr>
            <a:r>
              <a:t>Mirai: 1.7% → 33.3% (@60s)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E74C3C"/>
                </a:solidFill>
                <a:latin typeface="Calibri"/>
              </a:defRPr>
            </a:pPr>
            <a:r>
              <a:t>Problema: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E74C3C"/>
                </a:solidFill>
                <a:latin typeface="Calibri"/>
              </a:defRPr>
            </a:pPr>
            <a:r>
              <a:t>FPR explode 58% @60s benigno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404040"/>
                </a:solidFill>
                <a:latin typeface="Calibri"/>
              </a:defRPr>
            </a:pPr>
            <a:r>
              <a:t>Trade-off severo: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404040"/>
                </a:solidFill>
                <a:latin typeface="Calibri"/>
              </a:defRPr>
            </a:pPr>
            <a:r>
              <a:t>Bom Recall → FPR inaceitável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E74C3C"/>
                </a:solidFill>
                <a:latin typeface="Calibri"/>
              </a:defRPr>
            </a:pPr>
            <a:r>
              <a:t>Bom FPR → Recall insuficiente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C03-S4 — Features Comportamentais v1 vs v2 (48 runs)</a:t>
            </a:r>
          </a:p>
        </p:txBody>
      </p:sp>
      <p:pic>
        <p:nvPicPr>
          <p:cNvPr id="4" name="Picture 3" descr="01_s4_recall_v1_vs_v2_w1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68580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3716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7 features comportamentais (v2):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404040"/>
                </a:solidFill>
                <a:latin typeface="Calibri"/>
              </a:defRPr>
            </a:pPr>
            <a:r>
              <a:t>  dst_port_entropy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404040"/>
                </a:solidFill>
                <a:latin typeface="Calibri"/>
              </a:defRPr>
            </a:pPr>
            <a:r>
              <a:t>  dst_ip_entropy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404040"/>
                </a:solidFill>
                <a:latin typeface="Calibri"/>
              </a:defRPr>
            </a:pPr>
            <a:r>
              <a:t>  flows_per_second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404040"/>
                </a:solidFill>
                <a:latin typeface="Calibri"/>
              </a:defRPr>
            </a:pPr>
            <a:r>
              <a:t>  unanswered_ratio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404040"/>
                </a:solidFill>
                <a:latin typeface="Calibri"/>
              </a:defRPr>
            </a:pPr>
            <a:r>
              <a:t>  fwd_only_ratio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404040"/>
                </a:solidFill>
                <a:latin typeface="Calibri"/>
              </a:defRPr>
            </a:pPr>
            <a:r>
              <a:t>  small_packet_ratio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404040"/>
                </a:solidFill>
                <a:latin typeface="Calibri"/>
              </a:defRPr>
            </a:pPr>
            <a:r>
              <a:t>  syn_only_ratio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411480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Veredicto @w=10s: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7AE60"/>
                </a:solidFill>
                <a:latin typeface="Calibri"/>
              </a:defRPr>
            </a:pPr>
            <a:r>
              <a:t>ICMP: v2 desbloqueia (0→50%)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7AE60"/>
                </a:solidFill>
                <a:latin typeface="Calibri"/>
              </a:defRPr>
            </a:pPr>
            <a:r>
              <a:t>Recon: v2 melhor (39→45%)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E74C3C"/>
                </a:solidFill>
                <a:latin typeface="Calibri"/>
              </a:defRPr>
            </a:pPr>
            <a:r>
              <a:t>SYN: v1 melhor (38% vs 31%)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E74C3C"/>
                </a:solidFill>
                <a:latin typeface="Calibri"/>
              </a:defRPr>
            </a:pPr>
            <a:r>
              <a:t>Mirai: v1 melhor (46% vs 38%)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404040"/>
                </a:solidFill>
                <a:latin typeface="Calibri"/>
              </a:defRPr>
            </a:pPr>
            <a:r>
              <a:t>TCP: Ambos 0%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E74C3C"/>
                </a:solidFill>
                <a:latin typeface="Calibri"/>
              </a:defRPr>
            </a:pPr>
            <a:r>
              <a:t>FPR: v1=2.9% → v2=14.3%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C04 — O que Adaptamos no MicroTEDAclus (5 mudanças)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612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(Maia 2020)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Próprio (adaptado)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Variância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σ² = (norm*2/dim)²</a:t>
                      </a:r>
                    </a:p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→ divide por 17, eleva²</a:t>
                      </a:r>
                    </a:p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→ subestima ~70x</a:t>
                      </a:r>
                    </a:p>
                  </a:txBody>
                  <a:tcPr anchor="ctr">
                    <a:solidFill>
                      <a:srgbClr val="F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Welford: dot(δ,δ')</a:t>
                      </a:r>
                    </a:p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→ soma todas dimensões</a:t>
                      </a:r>
                    </a:p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→ valor fiel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CRÍTICO</a:t>
                      </a:r>
                    </a:p>
                    <a:p>
                      <a:pPr algn="ctr">
                        <a:defRPr sz="1100" b="1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FPR 54% → 3.9%</a:t>
                      </a:r>
                    </a:p>
                  </a:txBody>
                  <a:tcPr anchor="ctr"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Eccentricity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ξ = (norm*2/dim)² / (n*σ²)</a:t>
                      </a:r>
                    </a:p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Inconsistente com σ²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ξ = Σ(diff²) / (n*σ²)</a:t>
                      </a:r>
                    </a:p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Consistente com Welford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Estabilidade do</a:t>
                      </a:r>
                    </a:p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teste Chebyshev</a:t>
                      </a:r>
                    </a:p>
                  </a:txBody>
                  <a:tcPr anchor="ctr"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Update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Atualiza TODOS os</a:t>
                      </a:r>
                    </a:p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clusters que aceitam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Atualiza SÓ o melhor</a:t>
                      </a:r>
                    </a:p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(maior typicality)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Evita convergência</a:t>
                      </a:r>
                    </a:p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 clusters</a:t>
                      </a:r>
                    </a:p>
                  </a:txBody>
                  <a:tcPr anchor="ctr"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Cluster n=1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Sem proteção especial</a:t>
                      </a:r>
                    </a:p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→ cluster morre rápido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Threshold=13 (m=5)</a:t>
                      </a:r>
                    </a:p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→ permite crescimento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Menos fragmentação</a:t>
                      </a:r>
                    </a:p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 clusters</a:t>
                      </a:r>
                    </a:p>
                  </a:txBody>
                  <a:tcPr anchor="ctr"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Cluster n=2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Só checa var &gt; limit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Guard duplo:</a:t>
                      </a:r>
                    </a:p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ζ &gt; threshold E σ² &gt;= r0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Clusters jovens</a:t>
                      </a:r>
                    </a:p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sobrevivem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5120640"/>
            <a:ext cx="11612880" cy="155448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212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Por que a fórmula de variância é o problema principal?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404040"/>
                </a:solidFill>
                <a:latin typeface="Calibri"/>
              </a:defRPr>
            </a:pPr>
            <a:r>
              <a:t>Original: σ² usa (2/dim)² como fator → em 2D: (2/2)²=1 (neutro). Em 17D: (2/17)²=0.014 → reduz variância ~70x</a:t>
            </a:r>
          </a:p>
          <a:p>
            <a:pPr algn="l">
              <a:spcBef>
                <a:spcPts val="600"/>
              </a:spcBef>
              <a:defRPr sz="1400" b="1">
                <a:solidFill>
                  <a:srgbClr val="E74C3C"/>
                </a:solidFill>
                <a:latin typeface="Calibri"/>
              </a:defRPr>
            </a:pPr>
            <a:r>
              <a:t>Com σ² subestimada → eccentricity inflada → Chebyshev rejeita tudo → cada ponto cria novo cluster → FPR catastrófico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C04 — Impacto Quantitativo (30 runs)</a:t>
            </a:r>
          </a:p>
        </p:txBody>
      </p:sp>
      <p:pic>
        <p:nvPicPr>
          <p:cNvPr id="4" name="Picture 3" descr="06_campaign04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77724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FPR Benigno:</a:t>
            </a:r>
          </a:p>
          <a:p>
            <a:pPr algn="l">
              <a:spcBef>
                <a:spcPts val="600"/>
              </a:spcBef>
              <a:defRPr sz="1300" b="1">
                <a:solidFill>
                  <a:srgbClr val="404040"/>
                </a:solidFill>
                <a:latin typeface="Calibri"/>
              </a:defRPr>
            </a:pPr>
            <a:r>
              <a:t>Flow-level: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E74C3C"/>
                </a:solidFill>
                <a:latin typeface="Calibri"/>
              </a:defRPr>
            </a:pPr>
            <a:r>
              <a:t>  Próprio 3.9% vs Original 54.4% (14x)</a:t>
            </a:r>
          </a:p>
          <a:p>
            <a:pPr algn="l">
              <a:spcBef>
                <a:spcPts val="600"/>
              </a:spcBef>
              <a:defRPr sz="1300" b="1">
                <a:solidFill>
                  <a:srgbClr val="404040"/>
                </a:solidFill>
                <a:latin typeface="Calibri"/>
              </a:defRPr>
            </a:pPr>
            <a:r>
              <a:t>Win v1 w=10s: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E74C3C"/>
                </a:solidFill>
                <a:latin typeface="Calibri"/>
              </a:defRPr>
            </a:pPr>
            <a:r>
              <a:t>  Próprio 2.9% vs Original 41.9% (14x)</a:t>
            </a:r>
          </a:p>
          <a:p>
            <a:pPr algn="l">
              <a:spcBef>
                <a:spcPts val="600"/>
              </a:spcBef>
              <a:defRPr sz="1300" b="1">
                <a:solidFill>
                  <a:srgbClr val="404040"/>
                </a:solidFill>
                <a:latin typeface="Calibri"/>
              </a:defRPr>
            </a:pPr>
            <a:r>
              <a:t>Win v1 w=30s: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E74C3C"/>
                </a:solidFill>
                <a:latin typeface="Calibri"/>
              </a:defRPr>
            </a:pPr>
            <a:r>
              <a:t>  Próprio 5.0% vs Original 74.5% (15x)</a:t>
            </a:r>
          </a:p>
          <a:p>
            <a:pPr algn="l">
              <a:spcBef>
                <a:spcPts val="600"/>
              </a:spcBef>
              <a:defRPr sz="1300" b="1">
                <a:solidFill>
                  <a:srgbClr val="404040"/>
                </a:solidFill>
                <a:latin typeface="Calibri"/>
              </a:defRPr>
            </a:pPr>
            <a:r>
              <a:t>Win v2 w=10s: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E74C3C"/>
                </a:solidFill>
                <a:latin typeface="Calibri"/>
              </a:defRPr>
            </a:pPr>
            <a:r>
              <a:t>  Próprio 14.3% vs Original 45.5% (3x)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4572000"/>
            <a:ext cx="3931920" cy="20116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466344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Contribuição técnica: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404040"/>
                </a:solidFill>
                <a:latin typeface="Calibri"/>
              </a:defRPr>
            </a:pPr>
            <a:r>
              <a:t>Adaptação do MicroTEDAclus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404040"/>
                </a:solidFill>
                <a:latin typeface="Calibri"/>
              </a:defRPr>
            </a:pPr>
            <a:r>
              <a:t>para alta dimensionalidade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404040"/>
                </a:solidFill>
                <a:latin typeface="Calibri"/>
              </a:defRPr>
            </a:pPr>
            <a:r>
              <a:t>(17 features de rede IoT)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27AE60"/>
                </a:solidFill>
                <a:latin typeface="Calibri"/>
              </a:defRPr>
            </a:pPr>
            <a:r>
              <a:t>é NECESSÁRIA e VALIDADA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Consolidado — Melhor Resultado por Ataque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Ataque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Campanha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DDoS-ICMP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C03-S4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v2 / w10s / r0=0.10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15.7%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DDoS-SYN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C03-S4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v2 / w30s / r0=0.05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61.5%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36.1%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DDoS-TCP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Indetectável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Mirai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C03-S4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v1 / w10s / r0=0.10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46.2%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23.1%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15.5%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C03-S4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v2 / w10s / r0=0.05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49.1%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43.7%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12.9%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Benigno (FPR)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C02-S1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flow-level / r0=0.10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3.5%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846320"/>
            <a:ext cx="11247120" cy="1645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Destaque: Recon-PortScan F1 = 43.7%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04040"/>
                </a:solidFill>
                <a:latin typeface="Calibri"/>
              </a:defRPr>
            </a:pPr>
            <a:r>
              <a:t>Melhor resultado não-supervisionado da dissertação (Recall 49.1%, Precision 39.4%)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404040"/>
                </a:solidFill>
                <a:latin typeface="Calibri"/>
              </a:defRPr>
            </a:pPr>
            <a:r>
              <a:t>Alternativa: r0=0.15 → Precision 56.7%, FPR apenas 4.2%, F1=42.0%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6 Insights Principais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1. Detecção per-flow é fundamentalmente limitada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404040"/>
                </a:solidFill>
                <a:latin typeface="Calibri"/>
              </a:defRPr>
            </a:pPr>
            <a:r>
              <a:t>Flows de ataque DDoS são estatisticamente indistinguíveis de flows benignos IoT. Mais features per-flow (17→32) não ajudam — o problema é estrutural.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2. Janelas temporais são a direção certa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404040"/>
                </a:solidFill>
                <a:latin typeface="Calibri"/>
              </a:defRPr>
            </a:pPr>
            <a:r>
              <a:t>Mudam a pergunta de "este flow é anômalo?" para "este IP tem comportamento anômalo?". Melhorias de 10-20x no Recall.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3. Curse of dimensionality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404040"/>
                </a:solidFill>
                <a:latin typeface="Calibri"/>
              </a:defRPr>
            </a:pPr>
            <a:r>
              <a:t>~210 vetores com 19 features — MicroTEDAclus não converge com poucos dados.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4. Não existe config única ótima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404040"/>
                </a:solidFill>
                <a:latin typeface="Calibri"/>
              </a:defRPr>
            </a:pPr>
            <a:r>
              <a:t>ICMP precisa de v2, Mirai/SYN funcionam melhor com v1. DDoS-TCP é indistinguível em qualquer configuração.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5. Resultado positivo: Recon F1=43.7%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404040"/>
                </a:solidFill>
                <a:latin typeface="Calibri"/>
              </a:defRPr>
            </a:pPr>
            <a:r>
              <a:t>Pipeline Kafka → MicroTEDAclus funciona para certos tipos de ataque.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150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6. Adaptação ao domínio é contribuição técnica (C04)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404040"/>
                </a:solidFill>
                <a:latin typeface="Calibri"/>
              </a:defRPr>
            </a:pPr>
            <a:r>
              <a:t>Implementação original (Maia 2020) produz FPR de 42-75% — inutilizável. Adaptações próprias (Welford, update seletivo) reduzem FPR para 3-15%.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Próximos Passos — 3 Opções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3657600" cy="45720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  <a:latin typeface="Calibri"/>
              </a:defRPr>
            </a:pPr>
            <a:r>
              <a:t>Opção A</a:t>
            </a:r>
          </a:p>
          <a:p>
            <a:pPr algn="l">
              <a:spcBef>
                <a:spcPts val="600"/>
              </a:spcBef>
              <a:defRPr sz="1800" b="1">
                <a:solidFill>
                  <a:srgbClr val="1B3A5C"/>
                </a:solidFill>
                <a:latin typeface="Calibri"/>
              </a:defRPr>
            </a:pPr>
            <a:r>
              <a:t>S5 + Escrita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404040"/>
                </a:solidFill>
                <a:latin typeface="Calibri"/>
              </a:defRPr>
            </a:pPr>
            <a:r>
              <a:t>~2 + 5 semanas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404040"/>
                </a:solidFill>
                <a:latin typeface="Calibri"/>
              </a:defRPr>
            </a:pPr>
            <a:r>
              <a:t>Two-Stage Detection: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404040"/>
                </a:solidFill>
                <a:latin typeface="Calibri"/>
              </a:defRPr>
            </a:pPr>
            <a:r>
              <a:t>Stage 1: per-flow (FPR baixo)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404040"/>
                </a:solidFill>
                <a:latin typeface="Calibri"/>
              </a:defRPr>
            </a:pPr>
            <a:r>
              <a:t>Stage 2: concentração por IP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27AE60"/>
                </a:solidFill>
                <a:latin typeface="Calibri"/>
              </a:defRPr>
            </a:pPr>
            <a:r>
              <a:t>Equilibra profundidade</a:t>
            </a:r>
            <a:br/>
            <a:r>
              <a:t>e segurança de prazo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371600"/>
            <a:ext cx="3657600" cy="4572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46304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  <a:latin typeface="Calibri"/>
              </a:defRPr>
            </a:pPr>
            <a:r>
              <a:t>Opção B</a:t>
            </a:r>
          </a:p>
          <a:p>
            <a:pPr algn="l">
              <a:spcBef>
                <a:spcPts val="600"/>
              </a:spcBef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Consolidar + Escrever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404040"/>
                </a:solidFill>
                <a:latin typeface="Calibri"/>
              </a:defRPr>
            </a:pPr>
            <a:r>
              <a:t>~6-7 semanas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404040"/>
                </a:solidFill>
                <a:latin typeface="Calibri"/>
              </a:defRPr>
            </a:pPr>
            <a:r>
              <a:t>Resultados atuais como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404040"/>
                </a:solidFill>
                <a:latin typeface="Calibri"/>
              </a:defRPr>
            </a:pPr>
            <a:r>
              <a:t>contribuição válida: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404040"/>
                </a:solidFill>
                <a:latin typeface="Calibri"/>
              </a:defRPr>
            </a:pPr>
            <a:r>
              <a:t>167 exps + ablation rigoroso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404040"/>
                </a:solidFill>
                <a:latin typeface="Calibri"/>
              </a:defRPr>
            </a:pPr>
            <a:r>
              <a:t>Resultados negativos documentados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27AE60"/>
                </a:solidFill>
                <a:latin typeface="Calibri"/>
              </a:defRPr>
            </a:pPr>
            <a:r>
              <a:t>Menos risco de prazo</a:t>
            </a:r>
            <a:br/>
            <a:r>
              <a:t>Mais tempo para revisão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71600"/>
            <a:ext cx="3657600" cy="4572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46304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  <a:latin typeface="Calibri"/>
              </a:defRPr>
            </a:pPr>
            <a:r>
              <a:t>Opção C</a:t>
            </a:r>
          </a:p>
          <a:p>
            <a:pPr algn="l">
              <a:spcBef>
                <a:spcPts val="600"/>
              </a:spcBef>
              <a:defRPr sz="1800" b="1">
                <a:solidFill>
                  <a:srgbClr val="1B3A5C"/>
                </a:solidFill>
                <a:latin typeface="Calibri"/>
              </a:defRPr>
            </a:pPr>
            <a:r>
              <a:t>S5 + S6 + Escrita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404040"/>
                </a:solidFill>
                <a:latin typeface="Calibri"/>
              </a:defRPr>
            </a:pPr>
            <a:r>
              <a:t>~3 + 4 semanas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404040"/>
                </a:solidFill>
                <a:latin typeface="Calibri"/>
              </a:defRPr>
            </a:pPr>
            <a:r>
              <a:t>Two-Stage + Threshold</a:t>
            </a:r>
          </a:p>
          <a:p>
            <a:pPr algn="l">
              <a:spcBef>
                <a:spcPts val="600"/>
              </a:spcBef>
              <a:defRPr sz="1500" b="1">
                <a:solidFill>
                  <a:srgbClr val="404040"/>
                </a:solidFill>
                <a:latin typeface="Calibri"/>
              </a:defRPr>
            </a:pPr>
            <a:r>
              <a:t>adaptativo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404040"/>
                </a:solidFill>
                <a:latin typeface="Calibri"/>
              </a:defRPr>
            </a:pPr>
            <a:r>
              <a:t>Maximiza profundidade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404040"/>
                </a:solidFill>
                <a:latin typeface="Calibri"/>
              </a:defRPr>
            </a:pPr>
            <a:r>
              <a:t>experimental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000000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E74C3C"/>
                </a:solidFill>
                <a:latin typeface="Calibri"/>
              </a:defRPr>
            </a:pPr>
            <a:r>
              <a:t>Maior risco de prazo</a:t>
            </a:r>
            <a:br/>
            <a:r>
              <a:t>(defesa ~maio 2026)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Cronograma até Defesa (~8 semanas)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508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Semana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Opção A (recomendada)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Opção B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Opção 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S5 (Mar 23-29)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S5 experimentos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Cap. Metodologia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S5 experimentos</a:t>
                      </a:r>
                    </a:p>
                  </a:txBody>
                  <a:tcPr anchor="ctr"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S6 (Mar 30 - Abr 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S5 análise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Cap. Resultados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S6 experimentos</a:t>
                      </a:r>
                    </a:p>
                  </a:txBody>
                  <a:tcPr anchor="ctr"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S7 (Abr 6-12)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Cap. Metodologia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Cap. Discussão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S6 análise</a:t>
                      </a:r>
                    </a:p>
                  </a:txBody>
                  <a:tcPr anchor="ctr"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S8 (Abr 13-19)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Cap. Resultados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Revisão orientador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Cap. Metodologia</a:t>
                      </a:r>
                    </a:p>
                  </a:txBody>
                  <a:tcPr anchor="ctr"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S9 (Abr 20-26)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Cap. Discussão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Ajustes finais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Cap. Resultados</a:t>
                      </a:r>
                    </a:p>
                  </a:txBody>
                  <a:tcPr anchor="ctr"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S10 (Abr 27 - Mai 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Revisão orientador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Preparação defesa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Cap. Discussão</a:t>
                      </a:r>
                    </a:p>
                  </a:txBody>
                  <a:tcPr anchor="ctr"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S11 (Mai 4-10)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Ajustes finais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DEFESA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Revisão orientador</a:t>
                      </a:r>
                    </a:p>
                  </a:txBody>
                  <a:tcPr anchor="ctr"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S12 (Mai 11-17)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DEFESA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DEFESA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