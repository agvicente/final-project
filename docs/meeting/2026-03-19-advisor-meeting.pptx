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Progresso Experimental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D6E4F0"/>
                </a:solidFill>
                <a:latin typeface="Calibri"/>
              </a:defRPr>
            </a:pPr>
            <a:r>
              <a:t>Deteccao de Intrusao em IoT com</a:t>
            </a:r>
            <a:br/>
            <a:r>
              <a:t>Clustering Evolutivo em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4389120"/>
            <a:ext cx="5760720" cy="82296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4480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167 experimentos  |  4 campanhas  |  6 steps de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Augusto Custodio Vicente</a:t>
            </a:r>
          </a:p>
          <a:p>
            <a:pPr algn="ctr">
              <a:spcBef>
                <a:spcPts val="600"/>
              </a:spcBef>
              <a:defRPr sz="1600" b="0" i="0">
                <a:solidFill>
                  <a:srgbClr val="D6E4F0"/>
                </a:solidFill>
                <a:latin typeface="Calibri"/>
              </a:defRPr>
            </a:pPr>
            <a:r>
              <a:t>Mestrado PPGEE / UFMG</a:t>
            </a:r>
          </a:p>
          <a:p>
            <a:pPr algn="ctr">
              <a:spcBef>
                <a:spcPts val="600"/>
              </a:spcBef>
              <a:defRPr sz="1300" b="0" i="0">
                <a:solidFill>
                  <a:srgbClr val="D6E4F0"/>
                </a:solidFill>
                <a:latin typeface="Calibri"/>
              </a:defRPr>
            </a:pPr>
            <a:r>
              <a:t>Orientadores: Prof. Frederico Gadelha Guimaraes | Profa. Renata Lopes Rosa</a:t>
            </a:r>
          </a:p>
          <a:p>
            <a:pPr algn="ctr">
              <a:spcBef>
                <a:spcPts val="600"/>
              </a:spcBef>
              <a:defRPr sz="1300" b="0" i="0">
                <a:solidFill>
                  <a:srgbClr val="D6E4F0"/>
                </a:solidFill>
                <a:latin typeface="Calibri"/>
              </a:defRPr>
            </a:pPr>
            <a:r>
              <a:t>Reuniao de Orientacao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Objetivo desta Reuniao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2801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Contexto: ~5 semanas ate a defesa (prazo maio 2026)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167 experimentos executados em 4 campanhas revelaram limites fundamentais da deteccao por anomalia, alinhados com literatura canonica, e identificaram 5 adaptacoes tecnicas originais.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B3A5C"/>
                </a:solidFill>
                <a:latin typeface="Calibri"/>
              </a:defRPr>
            </a:pPr>
            <a:r>
              <a:t>Preciso desta reuniao para: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3749039" cy="2651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E75B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Validar achados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Confirmar que o diagnostico do problema (representacao per-flow insuficiente) e as 5 adaptacoes tecnicas no MicroTEDAclus constituem contribuicao da dissertacao.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66160"/>
            <a:ext cx="3749039" cy="2651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Discutir enquadramento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463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Como apresentar os resultados negativos como contribuicao cientifica positiva, seguindo Sommer &amp; Paxson (2010) e Arp et al. (2022).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3566160"/>
            <a:ext cx="3749039" cy="2651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39C12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Decidir proximos passos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8463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Opcao A: S5 (Two-Stage Detection) + escrita. Opcao B: Consolidar + escrever. Qual faz mais sentido dado o prazo?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Sommer &amp; Paxson (2010) "Outside the Closed World" IEEE S&amp;P  |  Arp et al. (2022) "Dos and Don'ts of ML in Computer Security" USENIX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Pipeline Streaming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PCAP -&gt; Kafka -&gt; MicroTEDAclus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Fundamentacao Teorica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TEDA (Angelov 2014) + MicroTEDAclus (Maia 2020)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Metodologia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Ablation study cumulativo (6 steps)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Resultados por Campanha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C01, C02 (S1/S2/S3), C03 (S4), C04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Framework: Dimensoes Anomalas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Hierarquia de detectabilidade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Contribuicao Tecnica (C04)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5 adaptacoes do MicroTEDAclus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Contribuicoes Cientificas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4 contribuicoes consolidadas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E75B6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04040"/>
                </a:solidFill>
                <a:latin typeface="Calibri"/>
              </a:defRPr>
            </a:pPr>
            <a:r>
              <a:t>Proximos Passos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909090"/>
                </a:solidFill>
                <a:latin typeface="Calibri"/>
              </a:defRPr>
            </a:pPr>
            <a:r>
              <a:t>Decisao: S5 ou consolidar + escrever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Pipeline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PCAPs</a:t>
            </a:r>
            <a:br/>
            <a:r>
              <a:t>CICIoT2023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0428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Producer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Broker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Flow</a:t>
            </a:r>
            <a:br/>
            <a:r>
              <a:t>Consumer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MicroTEDA</a:t>
            </a:r>
            <a:br/>
            <a:r>
              <a:t>clus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85248" y="1828800"/>
            <a:ext cx="160020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Metricas</a:t>
            </a:r>
            <a:br/>
            <a:r>
              <a:t>Prequential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9676" y="2121408"/>
            <a:ext cx="3291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9916" y="2121408"/>
            <a:ext cx="3291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0156" y="2121408"/>
            <a:ext cx="3291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0396" y="2121408"/>
            <a:ext cx="3291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0636" y="2121408"/>
            <a:ext cx="3291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5 tipos de ataque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Benigno + DDoS</a:t>
            </a:r>
            <a:br/>
            <a:r>
              <a:t>(ICMP/SYN/TCP)</a:t>
            </a:r>
            <a:br/>
            <a:r>
              <a:t>+ Mirai + Recon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Leitura de PCAP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Envio em ordem</a:t>
            </a:r>
            <a:br/>
            <a:r>
              <a:t>de timestamp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Topico 'packets'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Ordem preservada</a:t>
            </a:r>
            <a:br/>
            <a:r>
              <a:t>(reprodutibilidade)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Reconstrucao de flows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17 features</a:t>
            </a:r>
            <a:br/>
            <a:r>
              <a:t>Timeout 60s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Clustering evolutivo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Tipicalidade +</a:t>
            </a:r>
            <a:br/>
            <a:r>
              <a:t>Chebyshev dinamico</a:t>
            </a:r>
            <a:br/>
            <a:r>
              <a:t>(Maia 2020)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85248" y="3291840"/>
            <a:ext cx="1600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Test-then-train</a:t>
            </a:r>
          </a:p>
          <a:p>
            <a:pPr algn="ctr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Ground truth IP</a:t>
            </a:r>
            <a:br/>
            <a:r>
              <a:t>Fading α=0.01</a:t>
            </a:r>
            <a:br/>
            <a:r>
              <a:t>(Gama 2013)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77840"/>
            <a:ext cx="1124712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Decisoes de design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Kafka garante reprodutibilidade (ordem de insercao) + desacoplamento producer/consumer/detector. Prequential evita data leakage e respeita dependencias temporais do stream.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Neto et al. (2023) "CICIoT2023" Sensors 23(13)  |  Gama et al. (2013) "On Evaluating Stream Learning Algorithms" Machine Learning 90(3)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Fundamentacao Teorica — TEDA (Angelov 2014)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463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Eccentricidade (quao diferente um ponto e):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0000"/>
                </a:solidFill>
                <a:latin typeface="Cambria Math"/>
              </a:defRPr>
            </a:pPr>
            <a:r>
              <a:t>ξ(x_k) = 1/k + ||x_k - μ_k||² / (k × σ²_k)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Tipicalidade:  τ(x_k) = 1 − ξ(x_k)    |    Rejeicao via Chebyshev:  ζ(x) ≤ (m² + 1) / (2n)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374903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5B6"/>
                </a:solidFill>
                <a:latin typeface="Calibri"/>
              </a:defRPr>
            </a:pPr>
            <a:r>
              <a:t>Nao-parametrico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Nao assume gaussianidade, independencia, ou amostras infinitas. Usa apenas estrutura espacial mutua dos dados.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74903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7AE60"/>
                </a:solidFill>
                <a:latin typeface="Calibri"/>
              </a:defRPr>
            </a:pPr>
            <a:r>
              <a:t>Single-pass O(1)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490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Atualizacao recursiva via Welford (1962): mantem apenas (n, μ, σ²). Adequado para streaming de alta vazao.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108960"/>
            <a:ext cx="374903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246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39C12"/>
                </a:solidFill>
                <a:latin typeface="Calibri"/>
              </a:defRPr>
            </a:pPr>
            <a:r>
              <a:t>Chebyshev sem distribuicao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7490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P(|X-μ| ≥ mσ) ≤ 1/m² vale para QUALQUER distribuicao. Com m=3, 89% dos pontos ficam dentro (Amidan 2005).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11247120" cy="118872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74C3C"/>
                </a:solidFill>
                <a:latin typeface="Calibri"/>
              </a:defRPr>
            </a:pPr>
            <a:r>
              <a:t>Limitacao do TEDA basico — centro global unico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Um unico μ e σ² para toda a populacao. Grupos distintos parecem igualmente excentricos; outliers contaminam as estatisticas globais; nao ha mecanismo para separar padroes de ataque distintos.</a:t>
            </a:r>
          </a:p>
          <a:p>
            <a:pPr algn="l">
              <a:spcBef>
                <a:spcPts val="600"/>
              </a:spcBef>
              <a:defRPr sz="1200" b="1" i="1">
                <a:solidFill>
                  <a:srgbClr val="1B3A5C"/>
                </a:solidFill>
                <a:latin typeface="Calibri"/>
              </a:defRPr>
            </a:pPr>
            <a:r>
              <a:t>Solucao: MicroTEDAclus (proximo slide)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Angelov (2014) "Outside the Box" JAMRIS 8(2)  |  Welford (1962) Technometrics 4(3)  |  Amidan et al. (2005) "Data Outlier Detection Using Chebyshev" IEEE Aerospace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MicroTEDAclus (Maia 2020) — Algoritmo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Extensao do TEDA: N micro-clusters com estatisticas ISOLADAS (μ_i, σ²_i, n_i)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Cada cluster protege suas proprias estatisticas — outliers criam novos clusters ao inves de contaminar os existentes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Fluxo de decisao por ponto x: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5486400" cy="4572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1. Ponto x chega (vetor de 17 features)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0906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2E75B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2296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2. Para cada micro-cluster MC_i: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 Calcula ζ_i(x) = ξ_i(x) / 2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 Aceita se  ζ_i ≤ (m_i(k)² + 1) / (2·n_i)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206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2E75B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2651760" cy="9601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526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3a. Algum MC aceita:</a:t>
            </a:r>
          </a:p>
          <a:p>
            <a:pPr algn="l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Atualiza SO o melhor</a:t>
            </a:r>
          </a:p>
          <a:p>
            <a:pPr algn="l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(maior typicality)</a:t>
            </a:r>
          </a:p>
          <a:p>
            <a:pPr algn="l">
              <a:spcBef>
                <a:spcPts val="600"/>
              </a:spcBef>
              <a:defRPr sz="1100" b="1" i="0">
                <a:solidFill>
                  <a:srgbClr val="1B5E20"/>
                </a:solidFill>
                <a:latin typeface="Calibri"/>
              </a:defRPr>
            </a:pPr>
            <a:r>
              <a:t>→ NORMAL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4480560"/>
            <a:ext cx="2651760" cy="96012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526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3b. Nenhum MC aceita:</a:t>
            </a:r>
          </a:p>
          <a:p>
            <a:pPr algn="l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Cria novo MC</a:t>
            </a:r>
          </a:p>
          <a:p>
            <a:pPr algn="l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(centro = x)</a:t>
            </a:r>
          </a:p>
          <a:p>
            <a:pPr algn="l">
              <a:spcBef>
                <a:spcPts val="600"/>
              </a:spcBef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→ ANOMALIA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48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MicroTEDAclus vs TEDA basico: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17920" y="260604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56692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TEDA basico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Centro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1 global (μ, σ²)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N independentes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Outliers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Contaminam</a:t>
                      </a:r>
                    </a:p>
                    <a:p>
                      <a:pPr algn="ctr">
                        <a:defRPr sz="10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estatisticas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Criam novos</a:t>
                      </a:r>
                    </a:p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clusters (isolados)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Numero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Implicito (=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Automatico,</a:t>
                      </a:r>
                    </a:p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cresce dinamicamente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Concept drift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Limitado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Nativo</a:t>
                      </a:r>
                    </a:p>
                    <a:p>
                      <a:pPr algn="ctr">
                        <a:defRPr sz="10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(novos padroes = novos MCs)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577840"/>
            <a:ext cx="11430000" cy="8229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23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8860B"/>
                </a:solidFill>
                <a:latin typeface="Calibri"/>
              </a:defRPr>
            </a:pPr>
            <a:r>
              <a:t>Threshold dinamico m(k) — protege clusters jovens, exige de clusters maduros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m(k) = 3 / (1 + e^(-0.007 × (k−100)))     |     k=1: m≈0.6 (permissivo)     |     k=100: m=1.5 (transicao)     |     k→∞: m→3 (89% Chebyshev, estrito)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Maia et al. (2020) "Evolving Clustering Based on Mixture of Typicalities" FGCS 106  |  Kohonen (1990) "Self-Organizing Map" Proc IEEE 78(9) - fundamento do update seletivo  |  Cao et al. (2006) "DenStream" SDM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Metodologia — Ablation Study Cumulativo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Variavel Testada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Opcoes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Algoritmo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MicroTEDAclus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 26x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Ground Truth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vs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4%-&gt;27% (L4 corrigido)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IP GT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 vs v2(25) vs 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(Occam)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Granularidade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vs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Recall 10-20x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Features/janela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v1(12) vs v2(19 comport.)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Misto: 2/5 melhor, 2/5 pior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analise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Implementacao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Propria vs Original (Maia)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Original FPR 42-75%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Propria superior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5303520"/>
            <a:ext cx="11612880" cy="10058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Principio metodologico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Cada step altera UMA unica variavel e congela a melhor decisao para o proximo -&gt; causalidade isolada. Total: 167 runs. Arp et al. (2022) chamam isso de rigor essencial para ML em seguranca, evitando resultados inflados.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Arp et al. (2022) "Dos and Don'ts of ML in Computer Security" USENIX Security 2022  |  Pendlebury et al. (2019) "TESSERACT" USENIX Security 2019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Campaign-01 — Baseline (17 runs)</a:t>
            </a:r>
          </a:p>
        </p:txBody>
      </p:sp>
      <p:pic>
        <p:nvPicPr>
          <p:cNvPr id="4" name="Picture 3" descr="01_anomaly_rate_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06640" y="1280160"/>
            <a:ext cx="4572000" cy="1280160"/>
          </a:xfrm>
          <a:prstGeom prst="round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3716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74C3C"/>
                </a:solidFill>
                <a:latin typeface="Calibri"/>
              </a:defRPr>
            </a:pPr>
            <a:r>
              <a:t>Achado principal: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Anomaly rate invariante (~3.5%) com OU sem ataque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274320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Cenario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Alvo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FPR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&lt;= 5%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Ataques 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&gt;= 80%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MTC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75488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Diagnostico: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O detector encontra outliers estatisticos, nao ataques. Sommer &amp; Paxson (2010) previram exatamente isso: "gap semantico entre anomalia e malicia".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Sommer &amp; Paxson (2010) "Outside the Closed World: On Using ML for Network IDS" IEEE S&amp;P 2010  |  Axelsson (2000) "The Base-Rate Fallacy" ACM TISSEC 3(3)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Campaign-02 — 3 Hipoteses (72 runs)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10287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 — GT por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-&gt;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4%-&gt;27% Recall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Resto inalterado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FPR estavel 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Adotar IP GT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medicao,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nao resolve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deteccao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S2 —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v1(17)-&gt;v2(25)-&gt;v3(32)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TODOS os ataques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Manter v1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(Occam's razor)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per-flow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saturaram: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problema estrutural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S3 — Janelas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-&gt; Window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(5s, 10s, 30s, 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SYN: 3%-&gt;54% (15x)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Recon: 4%-&gt;45% (10x)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FPR explode (58% @60s)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Direcao certa,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insuficientes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Muda a pergunta</a:t>
                      </a:r>
                    </a:p>
                    <a:p>
                      <a:pPr algn="ctr">
                        <a:defRPr sz="11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fundamental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5532120"/>
            <a:ext cx="11612880" cy="8686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Insight central de S3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Mudanca de granularidade muda a PERGUNTA do detector: "este flow e anomalo?" (resposta: NAO, flows DDoS parecem normais) -&gt; "este IP comporta-se de forma anomala?" (resposta: SIM, padrao de flood emerge).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Lakhina, Crovella &amp; Diot (2004/2005) ACM SIGCOMM: seminal em analise agregada de anomalias de rede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C02-S3 — Recall por Janela Temporal</a:t>
            </a:r>
          </a:p>
        </p:txBody>
      </p:sp>
      <p:pic>
        <p:nvPicPr>
          <p:cNvPr id="4" name="Picture 3" descr="04_s3_recall_by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716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Melhorias dramaticas de Recall:</a:t>
            </a:r>
          </a:p>
          <a:p>
            <a:pPr algn="l">
              <a:spcBef>
                <a:spcPts val="600"/>
              </a:spcBef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  DDoS-SYN: 3.5% -&gt; 53.9% (15x)</a:t>
            </a:r>
          </a:p>
          <a:p>
            <a:pPr algn="l">
              <a:spcBef>
                <a:spcPts val="600"/>
              </a:spcBef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  Recon: 4.5% -&gt; 45.3% (10x)</a:t>
            </a:r>
          </a:p>
          <a:p>
            <a:pPr algn="l">
              <a:spcBef>
                <a:spcPts val="600"/>
              </a:spcBef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  Mirai: 1.7% -&gt; 33.3% (20x)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 i="0">
                <a:solidFill>
                  <a:srgbClr val="E74C3C"/>
                </a:solidFill>
                <a:latin typeface="Calibri"/>
              </a:defRPr>
            </a:pPr>
            <a:r>
              <a:t>Problema: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  FPR explode com janela grande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  (58% @60s benigno)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Suporte na literatura:</a:t>
            </a:r>
          </a:p>
          <a:p>
            <a:pPr algn="l">
              <a:spcBef>
                <a:spcPts val="600"/>
              </a:spcBef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Li et al. (2023) e Goldschmidt &amp; Kucera (2024) reportam ganhos similares com window-based features para deteccao de DDoS.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Li et al. (2023) "Window-based Feature Extraction for DDoS" Sci China Info Sci 66  |  Goldschmidt &amp; Kucera (2024) "Windower" NOMS 2024  |  Lakhina et al. (2005) "Mining Anomalies Using Traffic Feature Distributions" SIGCOMM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Framework Proposto: Dimensoes Anomalas (1/3)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685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8860B"/>
                </a:solidFill>
                <a:latin typeface="Calibri"/>
              </a:defRPr>
            </a:pPr>
            <a:r>
              <a:t>Sintese analitica proposta neste trabalho — NAO e conceito estabelecido na literatura</a:t>
            </a:r>
          </a:p>
          <a:p>
            <a:pPr algn="l">
              <a:spcBef>
                <a:spcPts val="600"/>
              </a:spcBef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Ferramenta construida para organizar a hierarquia de detectabilidade observada nos 167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5B6"/>
                </a:solidFill>
                <a:latin typeface="Calibri"/>
              </a:defRPr>
            </a:pPr>
            <a:r>
              <a:t>Definicao: o que e uma 'dimensao anomala'?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Uma feature f_j e 'anomala' para o ataque A quando: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 a distribuicao de f_j durante o ataque A difere substancialmente da distribuicao de f_j em trafego benigno.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Formal: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000000"/>
                </a:solidFill>
                <a:latin typeface="Calibri"/>
              </a:defRPr>
            </a:pPr>
            <a:r>
              <a:t>   D_benign(f_j)  ≠  D_attack(f_j)     (qualitativamente distinguiveis)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Contagem por ataque: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 d_A = numero de features f_j cujas distribuicoes benigna e de ataque A sao visualmente separaveis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5B6"/>
                </a:solidFill>
                <a:latin typeface="Calibri"/>
              </a:defRPr>
            </a:pPr>
            <a:r>
              <a:t>Exemplo concreto — feature dst_port_entropy: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514600"/>
            <a:ext cx="5486400" cy="23774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0604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Trafego benigno IoT: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 ~1.2 bits em media (2-3 portas ativas: DNS, HTTPS, MQTT)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 i="0">
                <a:solidFill>
                  <a:srgbClr val="E74C3C"/>
                </a:solidFill>
                <a:latin typeface="Calibri"/>
              </a:defRPr>
            </a:pPr>
            <a:r>
              <a:t>Durante Recon-PortScan: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 ~6.5 bits (100+ portas probadas sequencialmente)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→ Distribuicoes sao claramente separaveis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→ dst_port_entropy conta como 1 dimensao anomala para Recon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Contra-exemplo: a mesma feature para DDoS-TCP flood tem distribuicao identica ao benigno (ambos usam poucas portas alvo) → NAO conta.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74920"/>
            <a:ext cx="11338560" cy="13258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Hipotese causal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000000"/>
                </a:solidFill>
                <a:latin typeface="Calibri"/>
              </a:defRPr>
            </a:pPr>
            <a:r>
              <a:t>Mais dimensoes anomalas  →  maior ||x - μ||²  →  maior ξ (eccentricidade)  →  maior probabilidade de rejeicao por Chebyshev  →  maior Recall</a:t>
            </a:r>
          </a:p>
          <a:p>
            <a:pPr algn="l">
              <a:spcBef>
                <a:spcPts val="600"/>
              </a:spcBef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Intuicao: cada dimensao anomala contribui aditivamente para ||x - μ||² = Σ(x_j - μ_j)², que entra direto na formula ξ = 1/k + ||x-μ||² / (k × σ²). Ataque com 0 dimensoes anomalas tem ||x - μ||² ≈ ||benigno - μ||² e fica preso no cluster benigno.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Inspiracao: Sommer &amp; Paxson (2010) "Outside the Closed World" sobre gap semantico  |  Lakhina et al. (2005) "Mining Anomalies Using Traffic Feature Distributions" SIGCOMM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Framework Proposto: Dimensoes Anomalas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Metodologia de contagem (analise qualitativa):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1. Inspecao visual das 19 features de janela (v2) para cada tipo de ataque usando os dados agregados das campanhas C02-C03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2. Cross-reference com literatura sobre caracteristicas de cada ataque (Zargar 2013 para DDoS; Nychis 2008 para scan; Antonakakis 2017 para Mirai)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3. Classificacao em 3 niveis: FORTE (distribuicoes claramente separaveis) / FRACA (sobreposicao parcial) / NULA (sobreposicao total). Apenas dimensoes FORTES entram na contagem d_A.</a:t>
            </a:r>
          </a:p>
          <a:p>
            <a:pPr algn="l">
              <a:spcBef>
                <a:spcPts val="600"/>
              </a:spcBef>
              <a:defRPr sz="1100" b="0" i="1">
                <a:solidFill>
                  <a:srgbClr val="E74C3C"/>
                </a:solidFill>
                <a:latin typeface="Calibri"/>
              </a:defRPr>
            </a:pPr>
            <a:r>
              <a:t>Limitacao: classificacao e qualitativa, baseada em inspecao + literatura. Nao ha teste estatistico formal (ver slide 3/3 para experimento proposto).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30632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267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Ataque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d_A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 Fortes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Medido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Referencia Literatura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Recon-PortScan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5+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port_entropy↑, dst_div↑, flow_size↓, dur↓, fwd_only↑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49%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1">
                          <a:solidFill>
                            <a:srgbClr val="404040"/>
                          </a:solidFill>
                          <a:latin typeface="Calibri"/>
                        </a:defRPr>
                      </a:pPr>
                      <a:r>
                        <a:t>Nychis (2008)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DDoS-ICMP (v2)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3-4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flows/s↑, payload_std↓, dst_ip_ent↓, small↑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1">
                          <a:solidFill>
                            <a:srgbClr val="404040"/>
                          </a:solidFill>
                          <a:latin typeface="Calibri"/>
                        </a:defRPr>
                      </a:pPr>
                      <a:r>
                        <a:t>Wang (2022)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Mirai-greeth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2-3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rate↑, target_concentration↑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46%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1">
                          <a:solidFill>
                            <a:srgbClr val="404040"/>
                          </a:solidFill>
                          <a:latin typeface="Calibri"/>
                        </a:defRPr>
                      </a:pPr>
                      <a:r>
                        <a:t>Antonakakis (2017)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DDoS-SYN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syn_ratio↑, unanswered↑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38-62%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1">
                          <a:solidFill>
                            <a:srgbClr val="404040"/>
                          </a:solidFill>
                          <a:latin typeface="Calibri"/>
                        </a:defRPr>
                      </a:pPr>
                      <a:r>
                        <a:t>Bellaiche (2012)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1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TODAS sobrepoem com benigno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1">
                          <a:solidFill>
                            <a:srgbClr val="404040"/>
                          </a:solidFill>
                          <a:latin typeface="Calibri"/>
                        </a:defRPr>
                      </a:pPr>
                      <a:r>
                        <a:t>Zargar (2013)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715000"/>
            <a:ext cx="11247120" cy="7315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Padrao observado: Recall cresce monotonicamente com d_A  (5+→49%, 3-4→50%, 2-3→46%, 1-2→38-62%, 0→0%)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Consistente com a hipotese causal, mas N=5 ataques nao permite validacao estatistica rigorosa -&gt; motivacao para o experimento do proximo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Recall: medido nas campanhas C02-S3 e C03-S4  |  Features fortes: inspecao das ANALYSIS.md + literatura citada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Framework Proposto: Dimensoes Anomalas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1B3A5C"/>
                </a:solidFill>
                <a:latin typeface="Calibri"/>
              </a:defRPr>
            </a:pPr>
            <a:r>
              <a:t>Experimento proposto para validacao estatistica rigorosa (nao executado por restricao de tempo)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E75B6"/>
                </a:solidFill>
                <a:latin typeface="Calibri"/>
              </a:defRPr>
            </a:pPr>
            <a:r>
              <a:t>Fase 1: Contagem estatistica via KS-test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40280"/>
            <a:ext cx="5669280" cy="32918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Para cada feature f_j (j=1..19) e ataque A: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1. Extrair D_benign(f_j) e D_attack_A(f_j) dos dados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2. Aplicar Kolmogorov-Smirnov 2-sample test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   (nao-parametrico, distribuicao-livre)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3. Registrar estatistica KS e p-valor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4. Contar f_j como 'anomala' se p &lt; 0.01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   (correcao de Bonferroni para 19 testes)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1" i="0">
                <a:solidFill>
                  <a:srgbClr val="1B3A5C"/>
                </a:solidFill>
                <a:latin typeface="Calibri"/>
              </a:defRPr>
            </a:pPr>
            <a:r>
              <a:t>Resultado: d_A estatistico por ataque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Substitui a contagem qualitativa por uma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medicao objetiva e reproduzivel.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E75B6"/>
                </a:solidFill>
                <a:latin typeface="Calibri"/>
              </a:defRPr>
            </a:pPr>
            <a:r>
              <a:t>Fase 2: Teste de correlacao d_A  ↔  Recall_A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40280"/>
            <a:ext cx="5669280" cy="3291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B5E20"/>
                </a:solidFill>
                <a:latin typeface="Calibri"/>
              </a:defRPr>
            </a:pPr>
            <a:r>
              <a:t>Com os d_A estatisticos da Fase 1: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1. Pares (d_A, Recall_A) para cada ataque A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2. Coeficiente de Spearman (nao-parametrico)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3. H0: nao ha correlacao entre d_A e Recall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 H1: correlacao positiva (rho &gt; 0)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4. Reportar rho, p-valor, intervalo bootstrap</a:t>
            </a:r>
          </a:p>
          <a:p>
            <a:pPr algn="l">
              <a:spcBef>
                <a:spcPts val="600"/>
              </a:spcBef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Limitacao: N=5 ataques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Poder estatistico baixo, mas direcionalidade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e reportavel. Extensao futura: ampliar para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404040"/>
                </a:solidFill>
                <a:latin typeface="Calibri"/>
              </a:defRPr>
            </a:pPr>
            <a:r>
              <a:t>10+ ataques do CICIoT2023 (tempo adicional).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69280"/>
            <a:ext cx="11430000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8860B"/>
                </a:solidFill>
                <a:latin typeface="Calibri"/>
              </a:defRPr>
            </a:pPr>
            <a:r>
              <a:t>O que este experimento resolveria</a:t>
            </a:r>
          </a:p>
          <a:p>
            <a:pPr algn="l">
              <a:spcBef>
                <a:spcPts val="600"/>
              </a:spcBef>
              <a:defRPr sz="1000" b="0" i="0">
                <a:solidFill>
                  <a:srgbClr val="404040"/>
                </a:solidFill>
                <a:latin typeface="Calibri"/>
              </a:defRPr>
            </a:pPr>
            <a:r>
              <a:t>(a) Substitui contagem qualitativa por estatistica objetiva.  (b) Valida ou falsifica a hipotese causal.  (c) Produz um 'indice de detectabilidade' por ataque reproduzivel.  Tempo estimado: ~2-3 dias (scripts de extracao ja existem nas campanhas anteriores).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Massey (1951) "The Kolmogorov-Smirnov Test for Goodness of Fit" JASA  |  Spearman (1904) "The Proof and Measurement of Association Between Two Things" Am J Psych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C03-S4 — Features Comportamentais v1 vs v2 (48 runs)</a:t>
            </a:r>
          </a:p>
        </p:txBody>
      </p:sp>
      <p:pic>
        <p:nvPicPr>
          <p:cNvPr id="4" name="Picture 3" descr="01_s4_recall_v1_vs_v2_w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37160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7 features comportamentais (v2):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dst_port_entropy, dst_ip_entropy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flows_per_second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unanswered_ratio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fwd_only_ratio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small_packet_ratio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  syn_only_ratio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65760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Veredicto @w=10s: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27AE60"/>
                </a:solidFill>
                <a:latin typeface="Calibri"/>
              </a:defRPr>
            </a:pPr>
            <a:r>
              <a:t>ICMP: v2 desbloqueia (0-&gt;50%)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27AE60"/>
                </a:solidFill>
                <a:latin typeface="Calibri"/>
              </a:defRPr>
            </a:pPr>
            <a:r>
              <a:t>Recon: v2 melhor (39-&gt;45%)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SYN: v1 melhor (38% vs 31%)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Mirai: v1 melhor (46% vs 38%)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TCP: Ambos 0%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FPR: v1=2.9% -&gt; v2=14.3%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 i="1">
                <a:solidFill>
                  <a:srgbClr val="1B3A5C"/>
                </a:solidFill>
                <a:latin typeface="Calibri"/>
              </a:defRPr>
            </a:pPr>
            <a:r>
              <a:t>Diagnostico: curse of dimensionality (~210 vetores, 19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Zimek et al. (2012) "Unsupervised Outlier Detection in High-D Numerical Data" SADM 5(5)  |  Beyer et al. (1999) "When Is Nearest Neighbor Meaningful?" ICDT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C04 — 5 Adaptacoes Tecnicas no MicroTEDAclus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11612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6553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 (Maia 2020)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Adaptacao Propria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Suporte Teorico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>
                        <a:defRPr sz="10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Variancia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σ² = (||δ||·2/dim)²</a:t>
                      </a:r>
                    </a:p>
                    <a:p>
                      <a:pPr algn="ctr">
                        <a:defRPr sz="10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Subestima ~70x em 17D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Welford: dot(δ, δ')</a:t>
                      </a:r>
                    </a:p>
                    <a:p>
                      <a:pPr algn="ctr">
                        <a:defRPr sz="1000" b="1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Soma todas dimensoes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Welford (1962)</a:t>
                      </a:r>
                    </a:p>
                    <a:p>
                      <a:pPr algn="ctr">
                        <a:defRPr sz="10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Chan et al. (1983)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Eccentricity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ξ = (||δ||·2/dim)² / (n·σ²)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Inconsistente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ξ = Σ(diff²) / (n·σ²)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Consistente com Welford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Angelov (2014)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Update policy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Atualiza TODOS os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clusters aceitantes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Atualiza SO o melhor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(maior typicality)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Kohonen (1990)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DenStream (2006)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NS-TEDA (2024)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Cluster n=1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Sem protecao especial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-&gt; cluster morre rapido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threshold=13 (m=5)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-&gt; permite crescimento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Maia (2020)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cold start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Cluster n=2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So checa var &gt; limit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duplo:</a:t>
                      </a:r>
                    </a:p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ζ &gt; thr E σ² &gt;= r0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Adaptacao propria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5394960"/>
            <a:ext cx="11612880" cy="9601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Por que isso e contribuicao tecnica original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Nenhum paper TEDA testou com &gt;6 features. Maia (2020) validou em 2D sintetico. Aplicacao em 17D expoe limitacao estrutural previsto por Beyer (1999) e Aggarwal (2001) sobre curse of dimensionality em distancias Euclidianas.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Welford (1962) Technometrics 4(3)  |  Kohonen (1990) "Self-Organizing Map" Proc IEEE 78(9)  |  Cao et al. (2006) "DenStream" SDM  |  Chen et al. (2024) "NS-TEDA" CMC 78(2)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Por que a Formula Original Falha — Demonstracao Numerica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109728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Formula original (Maia 2020, validada em 2D):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00"/>
                </a:solidFill>
                <a:latin typeface="Cambria Math"/>
              </a:defRPr>
            </a:pPr>
            <a:r>
              <a:t>σ²  =  ( ||δ|| × 2/dim )²     onde δ = x − 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267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Fator (2/dim)²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Efeito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2D (Maia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(2/2)² = 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Neutro — funciona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(2/5)² = 0.16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Subestima 6x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(2/10)² = 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F39C12"/>
                          </a:solidFill>
                          <a:latin typeface="Calibri"/>
                        </a:defRPr>
                      </a:pPr>
                      <a:r>
                        <a:t>Subestima 25x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17D (nosso)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(2/17)² = 0.014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Subestima ~70x</a:t>
                      </a:r>
                    </a:p>
                  </a:txBody>
                  <a:tcPr anchor="ctr">
                    <a:solidFill>
                      <a:srgbClr val="FDEDE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32D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(2/32)² = 0.004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Subestima 250x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2606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Cascata de falha em 17D: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1. σ² real ≈ 6.18   |   σ² original ≈ 0.087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2. Razao: 71x de subestimacao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3. Eccentricity ξ = ... / (n·σ²)  -&gt; INFLADA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4. Chebyshev rejeita quase todos os pontos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5. Cada ponto cria novo cluster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6. FPR catastrofico: 54% em trafego benigno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Welford corrige: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σ² incremental via produto escalar dot(δ_old, δ_new) soma contribuicoes de TODAS as dimensoes corretamente.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40680"/>
            <a:ext cx="11247120" cy="8686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Esta e a contribuicao tecnica central da dissertacao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Correcao identificada empiricamente (167 exps) e teoricamente fundamentada (Beyer 1999, Aggarwal 2001, Zimek 2012 sobre curse of dimensionality).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Beyer et al. (1999) "When Is Nearest Neighbor Meaningful?" ICDT  |  Aggarwal et al. (2001) "Surprising Behavior of Distance Metrics in High-D" ICDT  |  Chan et al. (1983) "Algorithms for Computing Sample Variance" Am Stat 37(3)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C04 — Impacto Quantitativo (30 runs)</a:t>
            </a:r>
          </a:p>
        </p:txBody>
      </p:sp>
      <p:pic>
        <p:nvPicPr>
          <p:cNvPr id="4" name="Picture 3" descr="06_campaign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7724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28016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3A5C"/>
                </a:solidFill>
                <a:latin typeface="Calibri"/>
              </a:defRPr>
            </a:pPr>
            <a:r>
              <a:t>FPR Benigno: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404040"/>
                </a:solidFill>
                <a:latin typeface="Calibri"/>
              </a:defRPr>
            </a:pPr>
            <a:r>
              <a:t>Flow-level: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  Propria 3.9%  |  Original 54.4%  (14x)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404040"/>
                </a:solidFill>
                <a:latin typeface="Calibri"/>
              </a:defRPr>
            </a:pPr>
            <a:r>
              <a:t>Win v1 w=10s: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  Propria 2.9%  |  Original 41.9%  (14x)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404040"/>
                </a:solidFill>
                <a:latin typeface="Calibri"/>
              </a:defRPr>
            </a:pPr>
            <a:r>
              <a:t>Win v1 w=30s: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  Propria 5.0%  |  Original 74.5%  (15x)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404040"/>
                </a:solidFill>
                <a:latin typeface="Calibri"/>
              </a:defRPr>
            </a:pPr>
            <a:r>
              <a:t>Win v2 w=10s: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  Propria 14.3%  |  Original 45.5%  (3x)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4389120"/>
            <a:ext cx="3931920" cy="19202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448056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Contribuicao validada: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As 5 adaptacoes sao NECESSARIAS para MicroTEDAclus funcionar em alta dimensionalidade.</a:t>
            </a:r>
          </a:p>
          <a:p>
            <a:pPr algn="l">
              <a:spcBef>
                <a:spcPts val="600"/>
              </a:spcBef>
              <a:defRPr sz="1200" b="1" i="0">
                <a:solidFill>
                  <a:srgbClr val="1B5E20"/>
                </a:solidFill>
                <a:latin typeface="Calibri"/>
              </a:defRPr>
            </a:pPr>
            <a:r>
              <a:t>Sem elas: IDS inutilizavel (FPR 42-75%). Com elas: FPR 3-15%.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Campaign-04: 30 runs, 2026-04-03. Package evolclustering (Maia 2020) vs src/detector/micro_teda.py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Consolidado — Melhor Resultado por Ataque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31074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Ataque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Campanha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DDoS-ICMP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15.7%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DDoS-SYN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w30s / r0=0.05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61.5%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36.1%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Indetectavel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Mirai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46.2%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23.1%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r0=0.05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49.1%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43.7%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(FPR)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flow-level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645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7AE60"/>
                </a:solidFill>
                <a:latin typeface="Calibri"/>
              </a:defRPr>
            </a:pPr>
            <a:r>
              <a:t>Destaque: Recon-PortScan F1 = 43.7%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Melhor resultado nao-supervisionado da dissertacao (Recall 49.1%, Precision 39.4%, FPR 12.9%)</a:t>
            </a:r>
          </a:p>
          <a:p>
            <a:pPr algn="l">
              <a:spcBef>
                <a:spcPts val="6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Alternativa r0=0.15: Precision 56.7%, FPR apenas 4.2%, F1=42.0% (trade-off operacional viavel)</a:t>
            </a:r>
          </a:p>
          <a:p>
            <a:pPr algn="l">
              <a:spcBef>
                <a:spcPts val="600"/>
              </a:spcBef>
              <a:defRPr sz="1100" b="0" i="1">
                <a:solidFill>
                  <a:srgbClr val="1B3A5C"/>
                </a:solidFill>
                <a:latin typeface="Calibri"/>
              </a:defRPr>
            </a:pPr>
            <a:r>
              <a:t>Contexto: metodos supervisionados no CICIoT2023 atingem F1&gt;95% (requer labels). Metodos nao-supervisionados publicados no mesmo dataset sao quase inexistentes — sem baseline direto para comparacao (lacuna; trabalho futuro).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Neto et al. (2023) "CICIoT2023" Sensors 23(13)  |  Recon F1=43.7% medido em C03-S4 (v2/w10s/r0=0.05); lacuna de baseline documentada em Arp et al. (2022) para ML-security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4 Contribuicoes Cientificas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57784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1. Tecnica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5 adaptacoes no MicroTEDAclus para alta dimensionalidade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Correcao da formula de variancia (70x de erro em 17D), update seletivo, cold start guards. Validado em C04 com 30 runs: FPR 3.9% vs 54.4%.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2E75B6"/>
                </a:solidFill>
                <a:latin typeface="Calibri"/>
              </a:defRPr>
            </a:pPr>
            <a:r>
              <a:t>Primeiro estudo empirico de TEDA em dados de rede de alta dimensao.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57784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2. Empirica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167 experimentos documentando limites da deteccao por anomalia em IoT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Ablation study rigoroso confirma empiricamente as previsoes teoricas de Sommer &amp; Paxson (2010) sobre o gap semantico anomalia-ataque.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27AE60"/>
                </a:solidFill>
                <a:latin typeface="Calibri"/>
              </a:defRPr>
            </a:pPr>
            <a:r>
              <a:t>Framing como "first controlled comparison" no CICIoT2023.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86200"/>
            <a:ext cx="557784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39C12"/>
                </a:solidFill>
                <a:latin typeface="Calibri"/>
              </a:defRPr>
            </a:pPr>
            <a:r>
              <a:t>3. Metodologica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Framework de "Dimensoes Anomalas"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Modelo preditivo: detectabilidade e proporcional ao numero de dimensoes do espaco de features em que o ataque deforma o trafego. Explica hierarquia observada.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F39C12"/>
                </a:solidFill>
                <a:latin typeface="Calibri"/>
              </a:defRPr>
            </a:pPr>
            <a:r>
              <a:t>Ferramenta de analise proposta a partir dos dados. Inspirada em Lakhina (2005).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886200"/>
            <a:ext cx="557784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9776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4. Resultado Positivo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43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3A5C"/>
                </a:solidFill>
                <a:latin typeface="Calibri"/>
              </a:defRPr>
            </a:pPr>
            <a:r>
              <a:t>Recon-PortScan: F1=43.7% nao-supervisionado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8463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Pipeline Kafka + MicroTEDAclus funciona para ataques com assinatura estatistica distinta (5+ dimensoes anomalas). Comparavel a baselines nao-supervisionados.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852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1B5E20"/>
                </a:solidFill>
                <a:latin typeface="Calibri"/>
              </a:defRPr>
            </a:pPr>
            <a:r>
              <a:t>Viabilidade do pipeline demonstrada no subconjunto tratavel.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Matosin et al. (2014) "Negative Results" DMM 7(2)  |  Lipton &amp; Steinhardt (2019) "Troubling Trends in ML Scholarship" Queue 17(1)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O que Aprendemos — 6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1. Deteccao per-flow e fundamentalmente limitada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Flows DDoS sao estatisticamente indistinguiveis de flows IoT benignos. Mais features per-flow (17-&gt;32) = zero impacto. Problema e estrutural.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Sommer &amp; Paxson (2010), Chen et al. (2021)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2. Janelas temporais sao a direcao certa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Mudam a pergunta do detector. Melhorias de 10-20x no Recall, mas FPR sobe.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Lakhina et al. (2004, 2005), Li et al. (2023)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3. Curse of dimensionality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~210 vetores com 19 features -&gt; clusters nao convergem. Regime de poucos dados em alta dimensionalidade e toxico.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Beyer (1999), Zimek et al. (2012)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4. Nao existe config unica otima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ICMP precisa de v2, Mirai/SYN funcionam com v1. DDoS-TCP e indistinguivel em qualquer config (0 dimensoes anomalas).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Zargar et al. (2013)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5. Resultado positivo: Recon F1=43.7%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Pipeline funciona para ataques com assinatura estatistica distinta. Sem baseline nao-supervisionado direto no CICIoT2023 — lacuna explicita; trabalho futuro: adaptar Isolation Forest da Fase 1 para streaming (~1-2 dias).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Lacuna metodologica reconhecida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6. Adaptacao ao dominio e contribuicao tecnica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Implementacao original produz FPR 42-75% (inutilizavel). 5 adaptacoes proprias reduzem para 3-15%. Contribuicao validada em C04.</a:t>
            </a:r>
          </a:p>
          <a:p>
            <a:pPr algn="l">
              <a:spcBef>
                <a:spcPts val="600"/>
              </a:spcBef>
              <a:defRPr sz="1000" b="0" i="1">
                <a:solidFill>
                  <a:srgbClr val="909090"/>
                </a:solidFill>
                <a:latin typeface="Calibri"/>
              </a:defRPr>
            </a:pPr>
            <a:r>
              <a:t>Ref: Welford (1962), Kohonen (1990), NS-TEDA (2024)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Proximos Passos — Decisao Necessaria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Dado o prazo (~5 semanas ate defesa), qual caminho priorizar?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28800"/>
            <a:ext cx="3840480" cy="42062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2E75B6"/>
                </a:solidFill>
                <a:latin typeface="Calibri"/>
              </a:defRPr>
            </a:pPr>
            <a:r>
              <a:t>Opcao A</a:t>
            </a:r>
          </a:p>
          <a:p>
            <a:pPr algn="l">
              <a:spcBef>
                <a:spcPts val="600"/>
              </a:spcBef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S5 + Escrita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~1-2 semanas S5 + 3-4 escrita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 i="0">
                <a:solidFill>
                  <a:srgbClr val="404040"/>
                </a:solidFill>
                <a:latin typeface="Calibri"/>
              </a:defRPr>
            </a:pPr>
            <a:r>
              <a:t>S5 — Two-Stage Detection: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Stage 1: per-flow (FPR ~3.5%)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Stage 2: concentracao por IP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Ataca trade-off FPR/Recall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Base teorica solida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− Risco de nao funcionar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− Perde 1-2 semanas se falhar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828800"/>
            <a:ext cx="3840480" cy="42062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27AE60"/>
                </a:solidFill>
                <a:latin typeface="Calibri"/>
              </a:defRPr>
            </a:pPr>
            <a:r>
              <a:t>Opcao B</a:t>
            </a:r>
          </a:p>
          <a:p>
            <a:pPr algn="l">
              <a:spcBef>
                <a:spcPts val="600"/>
              </a:spcBef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Consolidar + Escrever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~5 semanas inteiras de escrita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 i="0">
                <a:solidFill>
                  <a:srgbClr val="404040"/>
                </a:solidFill>
                <a:latin typeface="Calibri"/>
              </a:defRPr>
            </a:pPr>
            <a:r>
              <a:t>Foco: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167 exps como contrib. metodologica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5 adaptacoes como contrib. tecnica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Negative results framing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Minimo risco de prazo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Revisao completa do orientador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F39C12"/>
                </a:solidFill>
                <a:latin typeface="Calibri"/>
              </a:defRPr>
            </a:pPr>
            <a:r>
              <a:t>− Menos ambicioso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F39C12"/>
                </a:solidFill>
                <a:latin typeface="Calibri"/>
              </a:defRPr>
            </a:pPr>
            <a:r>
              <a:t>− Sem resultado forte adicional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828800"/>
            <a:ext cx="3840480" cy="420624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2024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9C12"/>
                </a:solidFill>
                <a:latin typeface="Calibri"/>
              </a:defRPr>
            </a:pPr>
            <a:r>
              <a:t>Opcao C</a:t>
            </a:r>
          </a:p>
          <a:p>
            <a:pPr algn="l">
              <a:spcBef>
                <a:spcPts val="600"/>
              </a:spcBef>
              <a:defRPr sz="1600" b="1" i="0">
                <a:solidFill>
                  <a:srgbClr val="1B3A5C"/>
                </a:solidFill>
                <a:latin typeface="Calibri"/>
              </a:defRPr>
            </a:pPr>
            <a:r>
              <a:t>S5 + S6 + Escrita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~3 semanas exps + 2 escrita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 i="0">
                <a:solidFill>
                  <a:srgbClr val="404040"/>
                </a:solidFill>
                <a:latin typeface="Calibri"/>
              </a:defRPr>
            </a:pPr>
            <a:r>
              <a:t>S5 + S6: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Two-Stage + threshold adaptativo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Maximiza profundidade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+ Maior potencial de publicacao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− Margem apertada de escrita</a:t>
            </a:r>
          </a:p>
          <a:p>
            <a:pPr algn="l">
              <a:spcBef>
                <a:spcPts val="600"/>
              </a:spcBef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− Alto risco de prazo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6217920"/>
            <a:ext cx="11612880" cy="4572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75B6"/>
                </a:solidFill>
                <a:latin typeface="Calibri"/>
              </a:defRPr>
            </a:pPr>
            <a:r>
              <a:t>Preferencia inicial: Opcao A</a:t>
            </a:r>
          </a:p>
          <a:p>
            <a:pPr algn="l">
              <a:spcBef>
                <a:spcPts val="6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S5 Two-Stage e a hipotese mais promissora (ensemble de evidencias, base teorica solida). Se nao funcionar em ~1 semana, vira Opcao B efetivamente. Quero confirmar com voces.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Referencias Principais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Fundamentacao TEDA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Angelov (2014) "Outside the Box" JAMRIS 8(2)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Maia et al. (2020) "Evolving Clustering Based on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Mixture of Typicalities" FGCS 106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Welford (1962) Technometrics 4(3)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Chan et al. (1983) Am Stat 37(3)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Limites de Anomaly-based IDS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Sommer &amp; Paxson (2010) "Outside the Closed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World" IEEE S&amp;P 2010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Gates &amp; Taylor (2006) NSPW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Axelsson (2000) "Base-Rate Fallacy" ACM TISSEC 3(3)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Chandola et al. (2009) "Anomaly Detection: A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Survey" ACM Comp Surveys 41(3)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DDoS e deteccao agregada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Lakhina et al. (2004, 2005) ACM SIGCOMM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Zargar et al. (2013) IEEE ComSurveys 15(4)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Kopmann et al. (2022) "MIDA" ESOCC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6692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Curse of Dimensionality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Beyer et al. (1999) "When Is Nearest Neighbor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Meaningful?" ICDT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Aggarwal et al. (2001) "Surprising Behavior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of Distance Metrics in High-D" ICDT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Zimek et al. (2012) SADM 5(5)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Stream Clustering e Prequential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Gama et al. (2013) "On Evaluating Stream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Learning Algorithms" Machine Learning 90(3)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Kohonen (1990) "Self-Organizing Map" Proc IEEE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Cao et al. (2006) "DenStream" SDM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Metodologia e Rigor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Arp et al. (2022) "Dos and Don'ts of ML in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  Computer Security" USENIX Security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Pendlebury et al. (2019) "TESSERACT" USENIX Sec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Dataset</a:t>
            </a:r>
          </a:p>
          <a:p>
            <a:pPr algn="l">
              <a:spcBef>
                <a:spcPts val="300"/>
              </a:spcBef>
              <a:defRPr sz="1100" b="0" i="0">
                <a:solidFill>
                  <a:srgbClr val="404040"/>
                </a:solidFill>
                <a:latin typeface="Calibri"/>
              </a:defRPr>
            </a:pPr>
            <a:r>
              <a:t>Neto et al. (2023) CICIoT2023 Sensors 23(13)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